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8" r:id="rId3"/>
    <p:sldId id="259" r:id="rId4"/>
    <p:sldId id="260" r:id="rId5"/>
    <p:sldId id="264" r:id="rId6"/>
    <p:sldId id="265" r:id="rId7"/>
    <p:sldId id="266" r:id="rId8"/>
    <p:sldId id="267" r:id="rId9"/>
    <p:sldId id="268" r:id="rId10"/>
    <p:sldId id="269" r:id="rId11"/>
    <p:sldId id="273" r:id="rId12"/>
    <p:sldId id="270" r:id="rId13"/>
    <p:sldId id="271" r:id="rId14"/>
    <p:sldId id="272"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592"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E8E8F0E-AF1C-49AF-84B2-EFB59272BC42}" type="datetimeFigureOut">
              <a:rPr lang="en-IN" smtClean="0"/>
              <a:t>06-12-2025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DC50A08-95B0-4758-9937-FB8003343C54}" type="slidenum">
              <a:rPr lang="en-IN" smtClean="0"/>
              <a:t>‹#›</a:t>
            </a:fld>
            <a:endParaRPr lang="en-IN"/>
          </a:p>
        </p:txBody>
      </p:sp>
    </p:spTree>
    <p:extLst>
      <p:ext uri="{BB962C8B-B14F-4D97-AF65-F5344CB8AC3E}">
        <p14:creationId xmlns:p14="http://schemas.microsoft.com/office/powerpoint/2010/main" val="1557169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C50A08-95B0-4758-9937-FB8003343C54}" type="slidenum">
              <a:rPr lang="en-IN" smtClean="0"/>
              <a:t>10</a:t>
            </a:fld>
            <a:endParaRPr lang="en-IN"/>
          </a:p>
        </p:txBody>
      </p:sp>
    </p:spTree>
    <p:extLst>
      <p:ext uri="{BB962C8B-B14F-4D97-AF65-F5344CB8AC3E}">
        <p14:creationId xmlns:p14="http://schemas.microsoft.com/office/powerpoint/2010/main" val="3182543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21677" y="346074"/>
            <a:ext cx="5723890" cy="518159"/>
          </a:xfrm>
          <a:prstGeom prst="rect">
            <a:avLst/>
          </a:prstGeom>
        </p:spPr>
        <p:txBody>
          <a:bodyPr wrap="square" lIns="0" tIns="0" rIns="0" bIns="0">
            <a:spAutoFit/>
          </a:bodyPr>
          <a:lstStyle>
            <a:lvl1pPr>
              <a:defRPr sz="3200" b="1" i="1">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963175" y="6283803"/>
            <a:ext cx="2936587" cy="446595"/>
          </a:xfrm>
          <a:prstGeom prst="rect">
            <a:avLst/>
          </a:prstGeom>
        </p:spPr>
      </p:pic>
      <p:sp>
        <p:nvSpPr>
          <p:cNvPr id="2" name="Holder 2"/>
          <p:cNvSpPr>
            <a:spLocks noGrp="1"/>
          </p:cNvSpPr>
          <p:nvPr>
            <p:ph type="title"/>
          </p:nvPr>
        </p:nvSpPr>
        <p:spPr>
          <a:xfrm>
            <a:off x="403542" y="161607"/>
            <a:ext cx="10689272" cy="823214"/>
          </a:xfrm>
          <a:prstGeom prst="rect">
            <a:avLst/>
          </a:prstGeom>
        </p:spPr>
        <p:txBody>
          <a:bodyPr wrap="square" lIns="0" tIns="0" rIns="0" bIns="0">
            <a:spAutoFit/>
          </a:bodyPr>
          <a:lstStyle>
            <a:lvl1pPr>
              <a:defRPr sz="3200" b="1" i="1">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097280" y="1357249"/>
            <a:ext cx="10010775" cy="2586354"/>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858000"/>
          </a:xfrm>
          <a:prstGeom prst="rect">
            <a:avLst/>
          </a:prstGeom>
        </p:spPr>
      </p:pic>
      <p:sp>
        <p:nvSpPr>
          <p:cNvPr id="3" name="object 3"/>
          <p:cNvSpPr txBox="1"/>
          <p:nvPr/>
        </p:nvSpPr>
        <p:spPr>
          <a:xfrm>
            <a:off x="2607626" y="3733800"/>
            <a:ext cx="6976745" cy="2235933"/>
          </a:xfrm>
          <a:prstGeom prst="rect">
            <a:avLst/>
          </a:prstGeom>
        </p:spPr>
        <p:txBody>
          <a:bodyPr vert="horz" wrap="square" lIns="0" tIns="13335" rIns="0" bIns="0" rtlCol="0">
            <a:spAutoFit/>
          </a:bodyPr>
          <a:lstStyle/>
          <a:p>
            <a:pPr algn="ctr">
              <a:lnSpc>
                <a:spcPts val="2870"/>
              </a:lnSpc>
              <a:spcBef>
                <a:spcPts val="105"/>
              </a:spcBef>
            </a:pPr>
            <a:r>
              <a:rPr sz="2400" spc="600" dirty="0">
                <a:latin typeface="Times New Roman" panose="02020603050405020304" pitchFamily="18" charset="0"/>
                <a:cs typeface="Times New Roman" panose="02020603050405020304" pitchFamily="18" charset="0"/>
              </a:rPr>
              <a:t>ENERGY</a:t>
            </a:r>
            <a:r>
              <a:rPr sz="2400" spc="175" dirty="0">
                <a:latin typeface="Times New Roman" panose="02020603050405020304" pitchFamily="18" charset="0"/>
                <a:cs typeface="Times New Roman" panose="02020603050405020304" pitchFamily="18" charset="0"/>
              </a:rPr>
              <a:t> </a:t>
            </a:r>
            <a:r>
              <a:rPr sz="2400" spc="505" dirty="0">
                <a:latin typeface="Times New Roman" panose="02020603050405020304" pitchFamily="18" charset="0"/>
                <a:cs typeface="Times New Roman" panose="02020603050405020304" pitchFamily="18" charset="0"/>
              </a:rPr>
              <a:t>CONSUMPTION</a:t>
            </a:r>
            <a:r>
              <a:rPr sz="2400" spc="229" dirty="0">
                <a:latin typeface="Times New Roman" panose="02020603050405020304" pitchFamily="18" charset="0"/>
                <a:cs typeface="Times New Roman" panose="02020603050405020304" pitchFamily="18" charset="0"/>
              </a:rPr>
              <a:t> </a:t>
            </a:r>
            <a:r>
              <a:rPr sz="2400" spc="520" dirty="0">
                <a:latin typeface="Times New Roman" panose="02020603050405020304" pitchFamily="18" charset="0"/>
                <a:cs typeface="Times New Roman" panose="02020603050405020304" pitchFamily="18" charset="0"/>
              </a:rPr>
              <a:t>ANALYSIS</a:t>
            </a:r>
            <a:endParaRPr lang="en-US" sz="2400" spc="430" dirty="0">
              <a:latin typeface="Times New Roman" panose="02020603050405020304" pitchFamily="18" charset="0"/>
              <a:cs typeface="Times New Roman" panose="02020603050405020304" pitchFamily="18" charset="0"/>
            </a:endParaRPr>
          </a:p>
          <a:p>
            <a:pPr algn="ctr">
              <a:lnSpc>
                <a:spcPts val="2870"/>
              </a:lnSpc>
              <a:spcBef>
                <a:spcPts val="105"/>
              </a:spcBef>
            </a:pPr>
            <a:endParaRPr lang="en-US" sz="2400" spc="690" dirty="0">
              <a:latin typeface="Times New Roman" panose="02020603050405020304" pitchFamily="18" charset="0"/>
              <a:cs typeface="Times New Roman" panose="02020603050405020304" pitchFamily="18" charset="0"/>
            </a:endParaRPr>
          </a:p>
          <a:p>
            <a:pPr lvl="1" algn="ctr">
              <a:lnSpc>
                <a:spcPts val="2870"/>
              </a:lnSpc>
              <a:spcBef>
                <a:spcPts val="105"/>
              </a:spcBef>
            </a:pPr>
            <a:r>
              <a:rPr sz="2400" spc="690" dirty="0">
                <a:latin typeface="Times New Roman" panose="02020603050405020304" pitchFamily="18" charset="0"/>
                <a:cs typeface="Times New Roman" panose="02020603050405020304" pitchFamily="18" charset="0"/>
              </a:rPr>
              <a:t>BY</a:t>
            </a:r>
            <a:endParaRPr sz="2400" dirty="0">
              <a:latin typeface="Times New Roman" panose="02020603050405020304" pitchFamily="18" charset="0"/>
              <a:cs typeface="Times New Roman" panose="02020603050405020304" pitchFamily="18" charset="0"/>
            </a:endParaRPr>
          </a:p>
          <a:p>
            <a:pPr marL="1270" lvl="1" algn="ctr">
              <a:lnSpc>
                <a:spcPts val="2745"/>
              </a:lnSpc>
            </a:pPr>
            <a:r>
              <a:rPr lang="en-US" sz="2400" spc="525" dirty="0" err="1">
                <a:latin typeface="Times New Roman" panose="02020603050405020304" pitchFamily="18" charset="0"/>
                <a:cs typeface="Times New Roman" panose="02020603050405020304" pitchFamily="18" charset="0"/>
              </a:rPr>
              <a:t>Santhosh.M</a:t>
            </a:r>
            <a:endParaRPr sz="2400" dirty="0">
              <a:latin typeface="Times New Roman" panose="02020603050405020304" pitchFamily="18" charset="0"/>
              <a:cs typeface="Times New Roman" panose="02020603050405020304" pitchFamily="18" charset="0"/>
            </a:endParaRPr>
          </a:p>
          <a:p>
            <a:pPr marL="3810" lvl="1" algn="ctr">
              <a:lnSpc>
                <a:spcPts val="2865"/>
              </a:lnSpc>
              <a:spcBef>
                <a:spcPts val="50"/>
              </a:spcBef>
            </a:pPr>
            <a:r>
              <a:rPr lang="en-US" sz="2400" spc="545" dirty="0" err="1">
                <a:latin typeface="Times New Roman" panose="02020603050405020304" pitchFamily="18" charset="0"/>
                <a:cs typeface="Times New Roman" panose="02020603050405020304" pitchFamily="18" charset="0"/>
              </a:rPr>
              <a:t>Vinay.M</a:t>
            </a:r>
            <a:endParaRPr sz="2400" dirty="0">
              <a:latin typeface="Times New Roman" panose="02020603050405020304" pitchFamily="18" charset="0"/>
              <a:cs typeface="Times New Roman" panose="02020603050405020304" pitchFamily="18" charset="0"/>
            </a:endParaRPr>
          </a:p>
          <a:p>
            <a:pPr lvl="1" algn="ctr">
              <a:lnSpc>
                <a:spcPts val="2865"/>
              </a:lnSpc>
            </a:pPr>
            <a:r>
              <a:rPr lang="en-US" sz="2400" spc="434" dirty="0" err="1">
                <a:latin typeface="Times New Roman" panose="02020603050405020304" pitchFamily="18" charset="0"/>
                <a:cs typeface="Times New Roman" panose="02020603050405020304" pitchFamily="18" charset="0"/>
              </a:rPr>
              <a:t>Vasanth.N.V.S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381000"/>
            <a:ext cx="4146550" cy="518159"/>
          </a:xfrm>
          <a:prstGeom prst="rect">
            <a:avLst/>
          </a:prstGeom>
        </p:spPr>
        <p:txBody>
          <a:bodyPr vert="horz" wrap="square" lIns="0" tIns="16510" rIns="0" bIns="0" rtlCol="0">
            <a:spAutoFit/>
          </a:bodyPr>
          <a:lstStyle/>
          <a:p>
            <a:pPr marL="12700">
              <a:lnSpc>
                <a:spcPct val="100000"/>
              </a:lnSpc>
              <a:spcBef>
                <a:spcPts val="130"/>
              </a:spcBef>
              <a:tabLst>
                <a:tab pos="2830830" algn="l"/>
              </a:tabLst>
            </a:pPr>
            <a:r>
              <a:rPr dirty="0">
                <a:solidFill>
                  <a:srgbClr val="FF0000"/>
                </a:solidFill>
              </a:rPr>
              <a:t>Objective</a:t>
            </a:r>
            <a:r>
              <a:rPr spc="-80" dirty="0">
                <a:solidFill>
                  <a:srgbClr val="FF0000"/>
                </a:solidFill>
              </a:rPr>
              <a:t> </a:t>
            </a:r>
            <a:r>
              <a:rPr dirty="0">
                <a:solidFill>
                  <a:srgbClr val="FF0000"/>
                </a:solidFill>
              </a:rPr>
              <a:t>of</a:t>
            </a:r>
            <a:r>
              <a:rPr spc="-25" dirty="0">
                <a:solidFill>
                  <a:srgbClr val="FF0000"/>
                </a:solidFill>
              </a:rPr>
              <a:t> the</a:t>
            </a:r>
            <a:r>
              <a:rPr lang="en-US" spc="-25" dirty="0">
                <a:solidFill>
                  <a:srgbClr val="FF0000"/>
                </a:solidFill>
              </a:rPr>
              <a:t> </a:t>
            </a:r>
            <a:r>
              <a:rPr spc="-10" dirty="0">
                <a:solidFill>
                  <a:srgbClr val="FF0000"/>
                </a:solidFill>
              </a:rPr>
              <a:t>Project</a:t>
            </a:r>
            <a:r>
              <a:rPr sz="2750" b="0" i="0" spc="-10" dirty="0">
                <a:solidFill>
                  <a:srgbClr val="FF0000"/>
                </a:solidFill>
                <a:latin typeface="Times New Roman"/>
                <a:cs typeface="Times New Roman"/>
              </a:rPr>
              <a:t>:</a:t>
            </a:r>
            <a:endParaRPr sz="2750" dirty="0">
              <a:solidFill>
                <a:srgbClr val="FF0000"/>
              </a:solidFill>
              <a:latin typeface="Times New Roman"/>
              <a:cs typeface="Times New Roman"/>
            </a:endParaRPr>
          </a:p>
        </p:txBody>
      </p:sp>
      <p:sp>
        <p:nvSpPr>
          <p:cNvPr id="3" name="object 3"/>
          <p:cNvSpPr txBox="1"/>
          <p:nvPr/>
        </p:nvSpPr>
        <p:spPr>
          <a:xfrm>
            <a:off x="738187" y="1303591"/>
            <a:ext cx="10728325" cy="4472122"/>
          </a:xfrm>
          <a:prstGeom prst="rect">
            <a:avLst/>
          </a:prstGeom>
        </p:spPr>
        <p:txBody>
          <a:bodyPr vert="horz" wrap="square" lIns="0" tIns="12700" rIns="0" bIns="0" rtlCol="0">
            <a:spAutoFit/>
          </a:bodyPr>
          <a:lstStyle/>
          <a:p>
            <a:pPr marL="355600" marR="5080" indent="-343535" algn="just">
              <a:lnSpc>
                <a:spcPct val="100000"/>
              </a:lnSpc>
              <a:spcBef>
                <a:spcPts val="100"/>
              </a:spcBef>
              <a:buFont typeface="Wingdings"/>
              <a:buChar char=""/>
              <a:tabLst>
                <a:tab pos="355600" algn="l"/>
              </a:tabLst>
            </a:pP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main</a:t>
            </a:r>
            <a:r>
              <a:rPr sz="2400" spc="75" dirty="0">
                <a:latin typeface="Times New Roman"/>
                <a:cs typeface="Times New Roman"/>
              </a:rPr>
              <a:t> </a:t>
            </a:r>
            <a:r>
              <a:rPr sz="2400" dirty="0">
                <a:latin typeface="Times New Roman"/>
                <a:cs typeface="Times New Roman"/>
              </a:rPr>
              <a:t>objective</a:t>
            </a:r>
            <a:r>
              <a:rPr sz="2400" spc="65" dirty="0">
                <a:latin typeface="Times New Roman"/>
                <a:cs typeface="Times New Roman"/>
              </a:rPr>
              <a:t> </a:t>
            </a:r>
            <a:r>
              <a:rPr sz="2400" dirty="0">
                <a:latin typeface="Times New Roman"/>
                <a:cs typeface="Times New Roman"/>
              </a:rPr>
              <a:t>of</a:t>
            </a:r>
            <a:r>
              <a:rPr sz="2400" spc="80" dirty="0">
                <a:latin typeface="Times New Roman"/>
                <a:cs typeface="Times New Roman"/>
              </a:rPr>
              <a:t> </a:t>
            </a:r>
            <a:r>
              <a:rPr sz="2400" dirty="0">
                <a:latin typeface="Times New Roman"/>
                <a:cs typeface="Times New Roman"/>
              </a:rPr>
              <a:t>this</a:t>
            </a:r>
            <a:r>
              <a:rPr sz="2400" spc="55" dirty="0">
                <a:latin typeface="Times New Roman"/>
                <a:cs typeface="Times New Roman"/>
              </a:rPr>
              <a:t> </a:t>
            </a:r>
            <a:r>
              <a:rPr sz="2400" dirty="0">
                <a:latin typeface="Times New Roman"/>
                <a:cs typeface="Times New Roman"/>
              </a:rPr>
              <a:t>project</a:t>
            </a:r>
            <a:r>
              <a:rPr sz="2400" spc="60" dirty="0">
                <a:latin typeface="Times New Roman"/>
                <a:cs typeface="Times New Roman"/>
              </a:rPr>
              <a:t> </a:t>
            </a:r>
            <a:r>
              <a:rPr sz="2400" dirty="0">
                <a:latin typeface="Times New Roman"/>
                <a:cs typeface="Times New Roman"/>
              </a:rPr>
              <a:t>is</a:t>
            </a:r>
            <a:r>
              <a:rPr sz="2400" spc="70" dirty="0">
                <a:latin typeface="Times New Roman"/>
                <a:cs typeface="Times New Roman"/>
              </a:rPr>
              <a:t> </a:t>
            </a:r>
            <a:r>
              <a:rPr sz="2400" dirty="0">
                <a:latin typeface="Times New Roman"/>
                <a:cs typeface="Times New Roman"/>
              </a:rPr>
              <a:t>to</a:t>
            </a:r>
            <a:r>
              <a:rPr sz="2400" spc="70" dirty="0">
                <a:latin typeface="Times New Roman"/>
                <a:cs typeface="Times New Roman"/>
              </a:rPr>
              <a:t> </a:t>
            </a:r>
            <a:r>
              <a:rPr sz="2400" dirty="0">
                <a:latin typeface="Times New Roman"/>
                <a:cs typeface="Times New Roman"/>
              </a:rPr>
              <a:t>understand</a:t>
            </a:r>
            <a:r>
              <a:rPr sz="2400" spc="110" dirty="0">
                <a:latin typeface="Times New Roman"/>
                <a:cs typeface="Times New Roman"/>
              </a:rPr>
              <a:t> </a:t>
            </a:r>
            <a:r>
              <a:rPr sz="2400" dirty="0">
                <a:latin typeface="Times New Roman"/>
                <a:cs typeface="Times New Roman"/>
              </a:rPr>
              <a:t>global</a:t>
            </a:r>
            <a:r>
              <a:rPr sz="2400" spc="75" dirty="0">
                <a:latin typeface="Times New Roman"/>
                <a:cs typeface="Times New Roman"/>
              </a:rPr>
              <a:t> </a:t>
            </a:r>
            <a:r>
              <a:rPr sz="2400" dirty="0">
                <a:latin typeface="Times New Roman"/>
                <a:cs typeface="Times New Roman"/>
              </a:rPr>
              <a:t>energy</a:t>
            </a:r>
            <a:r>
              <a:rPr sz="2400" spc="80" dirty="0">
                <a:latin typeface="Times New Roman"/>
                <a:cs typeface="Times New Roman"/>
              </a:rPr>
              <a:t> </a:t>
            </a:r>
            <a:r>
              <a:rPr sz="2400" dirty="0">
                <a:latin typeface="Times New Roman"/>
                <a:cs typeface="Times New Roman"/>
              </a:rPr>
              <a:t>and</a:t>
            </a:r>
            <a:r>
              <a:rPr sz="2400" spc="90" dirty="0">
                <a:latin typeface="Times New Roman"/>
                <a:cs typeface="Times New Roman"/>
              </a:rPr>
              <a:t> </a:t>
            </a:r>
            <a:r>
              <a:rPr sz="2400" spc="-10" dirty="0">
                <a:latin typeface="Times New Roman"/>
                <a:cs typeface="Times New Roman"/>
              </a:rPr>
              <a:t>environmental </a:t>
            </a:r>
            <a:r>
              <a:rPr sz="2400" dirty="0">
                <a:latin typeface="Times New Roman"/>
                <a:cs typeface="Times New Roman"/>
              </a:rPr>
              <a:t>patterns</a:t>
            </a:r>
            <a:r>
              <a:rPr sz="2400" spc="70" dirty="0">
                <a:latin typeface="Times New Roman"/>
                <a:cs typeface="Times New Roman"/>
              </a:rPr>
              <a:t> </a:t>
            </a:r>
            <a:r>
              <a:rPr sz="2400" dirty="0">
                <a:latin typeface="Times New Roman"/>
                <a:cs typeface="Times New Roman"/>
              </a:rPr>
              <a:t>by</a:t>
            </a:r>
            <a:r>
              <a:rPr sz="2400" spc="90" dirty="0">
                <a:latin typeface="Times New Roman"/>
                <a:cs typeface="Times New Roman"/>
              </a:rPr>
              <a:t> </a:t>
            </a:r>
            <a:r>
              <a:rPr sz="2400" dirty="0">
                <a:latin typeface="Times New Roman"/>
                <a:cs typeface="Times New Roman"/>
              </a:rPr>
              <a:t>creating</a:t>
            </a:r>
            <a:r>
              <a:rPr sz="2400" spc="70" dirty="0">
                <a:latin typeface="Times New Roman"/>
                <a:cs typeface="Times New Roman"/>
              </a:rPr>
              <a:t> </a:t>
            </a:r>
            <a:r>
              <a:rPr sz="2400" dirty="0">
                <a:latin typeface="Times New Roman"/>
                <a:cs typeface="Times New Roman"/>
              </a:rPr>
              <a:t>and</a:t>
            </a:r>
            <a:r>
              <a:rPr sz="2400" spc="100" dirty="0">
                <a:latin typeface="Times New Roman"/>
                <a:cs typeface="Times New Roman"/>
              </a:rPr>
              <a:t> </a:t>
            </a:r>
            <a:r>
              <a:rPr sz="2400" dirty="0">
                <a:latin typeface="Times New Roman"/>
                <a:cs typeface="Times New Roman"/>
              </a:rPr>
              <a:t>analyzing</a:t>
            </a:r>
            <a:r>
              <a:rPr sz="2400" spc="95" dirty="0">
                <a:latin typeface="Times New Roman"/>
                <a:cs typeface="Times New Roman"/>
              </a:rPr>
              <a:t> </a:t>
            </a:r>
            <a:r>
              <a:rPr sz="2400" dirty="0">
                <a:latin typeface="Times New Roman"/>
                <a:cs typeface="Times New Roman"/>
              </a:rPr>
              <a:t>a</a:t>
            </a:r>
            <a:r>
              <a:rPr sz="2400" spc="85" dirty="0">
                <a:latin typeface="Times New Roman"/>
                <a:cs typeface="Times New Roman"/>
              </a:rPr>
              <a:t> </a:t>
            </a:r>
            <a:r>
              <a:rPr sz="2400" dirty="0">
                <a:latin typeface="Times New Roman"/>
                <a:cs typeface="Times New Roman"/>
              </a:rPr>
              <a:t>complete</a:t>
            </a:r>
            <a:r>
              <a:rPr sz="2400" spc="85" dirty="0">
                <a:latin typeface="Times New Roman"/>
                <a:cs typeface="Times New Roman"/>
              </a:rPr>
              <a:t> </a:t>
            </a:r>
            <a:r>
              <a:rPr sz="2400" dirty="0">
                <a:latin typeface="Times New Roman"/>
                <a:cs typeface="Times New Roman"/>
              </a:rPr>
              <a:t>SQL</a:t>
            </a:r>
            <a:r>
              <a:rPr sz="2400" spc="85" dirty="0">
                <a:latin typeface="Times New Roman"/>
                <a:cs typeface="Times New Roman"/>
              </a:rPr>
              <a:t> </a:t>
            </a:r>
            <a:r>
              <a:rPr sz="2400" dirty="0">
                <a:latin typeface="Times New Roman"/>
                <a:cs typeface="Times New Roman"/>
              </a:rPr>
              <a:t>database.The</a:t>
            </a:r>
            <a:r>
              <a:rPr sz="2400" spc="50" dirty="0">
                <a:latin typeface="Times New Roman"/>
                <a:cs typeface="Times New Roman"/>
              </a:rPr>
              <a:t> </a:t>
            </a:r>
            <a:r>
              <a:rPr sz="2400" dirty="0">
                <a:latin typeface="Times New Roman"/>
                <a:cs typeface="Times New Roman"/>
              </a:rPr>
              <a:t>project</a:t>
            </a:r>
            <a:r>
              <a:rPr sz="2400" spc="80" dirty="0">
                <a:latin typeface="Times New Roman"/>
                <a:cs typeface="Times New Roman"/>
              </a:rPr>
              <a:t> </a:t>
            </a:r>
            <a:r>
              <a:rPr sz="2400" dirty="0">
                <a:latin typeface="Times New Roman"/>
                <a:cs typeface="Times New Roman"/>
              </a:rPr>
              <a:t>focuses</a:t>
            </a:r>
            <a:r>
              <a:rPr sz="2400" spc="60" dirty="0">
                <a:latin typeface="Times New Roman"/>
                <a:cs typeface="Times New Roman"/>
              </a:rPr>
              <a:t> </a:t>
            </a:r>
            <a:r>
              <a:rPr sz="2400" spc="-25" dirty="0">
                <a:latin typeface="Times New Roman"/>
                <a:cs typeface="Times New Roman"/>
              </a:rPr>
              <a:t>on </a:t>
            </a:r>
            <a:r>
              <a:rPr sz="2400" dirty="0">
                <a:latin typeface="Times New Roman"/>
                <a:cs typeface="Times New Roman"/>
              </a:rPr>
              <a:t>organizing</a:t>
            </a:r>
            <a:r>
              <a:rPr sz="2400" spc="340" dirty="0">
                <a:latin typeface="Times New Roman"/>
                <a:cs typeface="Times New Roman"/>
              </a:rPr>
              <a:t> </a:t>
            </a:r>
            <a:r>
              <a:rPr sz="2400" dirty="0">
                <a:latin typeface="Times New Roman"/>
                <a:cs typeface="Times New Roman"/>
              </a:rPr>
              <a:t>data</a:t>
            </a:r>
            <a:r>
              <a:rPr sz="2400" spc="350" dirty="0">
                <a:latin typeface="Times New Roman"/>
                <a:cs typeface="Times New Roman"/>
              </a:rPr>
              <a:t> </a:t>
            </a:r>
            <a:r>
              <a:rPr sz="2400" dirty="0">
                <a:latin typeface="Times New Roman"/>
                <a:cs typeface="Times New Roman"/>
              </a:rPr>
              <a:t>related</a:t>
            </a:r>
            <a:r>
              <a:rPr sz="2400" spc="350" dirty="0">
                <a:latin typeface="Times New Roman"/>
                <a:cs typeface="Times New Roman"/>
              </a:rPr>
              <a:t> </a:t>
            </a:r>
            <a:r>
              <a:rPr sz="2400" dirty="0">
                <a:latin typeface="Times New Roman"/>
                <a:cs typeface="Times New Roman"/>
              </a:rPr>
              <a:t>to</a:t>
            </a:r>
            <a:r>
              <a:rPr lang="en-US" sz="2400" spc="340" dirty="0">
                <a:latin typeface="Times New Roman"/>
                <a:cs typeface="Times New Roman"/>
              </a:rPr>
              <a:t> </a:t>
            </a:r>
            <a:r>
              <a:rPr sz="2400" dirty="0">
                <a:latin typeface="Times New Roman"/>
                <a:cs typeface="Times New Roman"/>
              </a:rPr>
              <a:t>countries,</a:t>
            </a:r>
            <a:r>
              <a:rPr sz="2400" spc="360" dirty="0">
                <a:latin typeface="Times New Roman"/>
                <a:cs typeface="Times New Roman"/>
              </a:rPr>
              <a:t> </a:t>
            </a:r>
            <a:r>
              <a:rPr sz="2400" dirty="0">
                <a:latin typeface="Times New Roman"/>
                <a:cs typeface="Times New Roman"/>
              </a:rPr>
              <a:t>emissions,</a:t>
            </a:r>
            <a:r>
              <a:rPr sz="2400" spc="355" dirty="0">
                <a:latin typeface="Times New Roman"/>
                <a:cs typeface="Times New Roman"/>
              </a:rPr>
              <a:t> </a:t>
            </a:r>
            <a:r>
              <a:rPr sz="2400" dirty="0">
                <a:latin typeface="Times New Roman"/>
                <a:cs typeface="Times New Roman"/>
              </a:rPr>
              <a:t>energy</a:t>
            </a:r>
            <a:r>
              <a:rPr lang="en-US" sz="2400" spc="350" dirty="0">
                <a:latin typeface="Times New Roman"/>
                <a:cs typeface="Times New Roman"/>
              </a:rPr>
              <a:t> </a:t>
            </a:r>
            <a:r>
              <a:rPr sz="2400" dirty="0">
                <a:latin typeface="Times New Roman"/>
                <a:cs typeface="Times New Roman"/>
              </a:rPr>
              <a:t>production,</a:t>
            </a:r>
            <a:r>
              <a:rPr lang="en-US" sz="2400" spc="335" dirty="0">
                <a:latin typeface="Times New Roman"/>
                <a:cs typeface="Times New Roman"/>
              </a:rPr>
              <a:t> </a:t>
            </a:r>
            <a:r>
              <a:rPr sz="2400" spc="-10" dirty="0">
                <a:latin typeface="Times New Roman"/>
                <a:cs typeface="Times New Roman"/>
              </a:rPr>
              <a:t>energy </a:t>
            </a:r>
            <a:r>
              <a:rPr sz="2400" dirty="0">
                <a:latin typeface="Times New Roman"/>
                <a:cs typeface="Times New Roman"/>
              </a:rPr>
              <a:t>consumption,</a:t>
            </a:r>
            <a:r>
              <a:rPr sz="2400" spc="-5" dirty="0">
                <a:latin typeface="Times New Roman"/>
                <a:cs typeface="Times New Roman"/>
              </a:rPr>
              <a:t> </a:t>
            </a:r>
            <a:r>
              <a:rPr sz="2400" dirty="0">
                <a:latin typeface="Times New Roman"/>
                <a:cs typeface="Times New Roman"/>
              </a:rPr>
              <a:t>GDP,</a:t>
            </a:r>
            <a:r>
              <a:rPr sz="2400" spc="-1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population</a:t>
            </a:r>
            <a:r>
              <a:rPr sz="2400" spc="-45" dirty="0">
                <a:latin typeface="Times New Roman"/>
                <a:cs typeface="Times New Roman"/>
              </a:rPr>
              <a:t> </a:t>
            </a:r>
            <a:r>
              <a:rPr sz="2400" dirty="0">
                <a:latin typeface="Times New Roman"/>
                <a:cs typeface="Times New Roman"/>
              </a:rPr>
              <a:t>in</a:t>
            </a:r>
            <a:r>
              <a:rPr sz="2400" spc="-40" dirty="0">
                <a:latin typeface="Times New Roman"/>
                <a:cs typeface="Times New Roman"/>
              </a:rPr>
              <a:t> </a:t>
            </a:r>
            <a:r>
              <a:rPr sz="2400" dirty="0">
                <a:latin typeface="Times New Roman"/>
                <a:cs typeface="Times New Roman"/>
              </a:rPr>
              <a:t>a</a:t>
            </a:r>
            <a:r>
              <a:rPr sz="2400" spc="-30" dirty="0">
                <a:latin typeface="Times New Roman"/>
                <a:cs typeface="Times New Roman"/>
              </a:rPr>
              <a:t> </a:t>
            </a:r>
            <a:r>
              <a:rPr sz="2400" dirty="0">
                <a:latin typeface="Times New Roman"/>
                <a:cs typeface="Times New Roman"/>
              </a:rPr>
              <a:t>structured</a:t>
            </a:r>
            <a:r>
              <a:rPr sz="2400" spc="-4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relational</a:t>
            </a:r>
            <a:r>
              <a:rPr sz="2400" spc="-45" dirty="0">
                <a:latin typeface="Times New Roman"/>
                <a:cs typeface="Times New Roman"/>
              </a:rPr>
              <a:t> </a:t>
            </a:r>
            <a:r>
              <a:rPr sz="2400" spc="-10" dirty="0">
                <a:latin typeface="Times New Roman"/>
                <a:cs typeface="Times New Roman"/>
              </a:rPr>
              <a:t>format.</a:t>
            </a:r>
            <a:endParaRPr sz="2400" dirty="0">
              <a:latin typeface="Times New Roman"/>
              <a:cs typeface="Times New Roman"/>
            </a:endParaRPr>
          </a:p>
          <a:p>
            <a:pPr>
              <a:lnSpc>
                <a:spcPct val="100000"/>
              </a:lnSpc>
              <a:spcBef>
                <a:spcPts val="130"/>
              </a:spcBef>
              <a:buFont typeface="Wingdings"/>
              <a:buChar char=""/>
            </a:pPr>
            <a:endParaRPr sz="2400" dirty="0">
              <a:latin typeface="Times New Roman"/>
              <a:cs typeface="Times New Roman"/>
            </a:endParaRPr>
          </a:p>
          <a:p>
            <a:pPr marL="355600" marR="8255" indent="-343535" algn="just">
              <a:lnSpc>
                <a:spcPct val="100400"/>
              </a:lnSpc>
              <a:buFont typeface="Wingdings"/>
              <a:buChar char=""/>
              <a:tabLst>
                <a:tab pos="355600" algn="l"/>
              </a:tabLst>
            </a:pPr>
            <a:r>
              <a:rPr sz="2400" dirty="0">
                <a:latin typeface="Times New Roman"/>
                <a:cs typeface="Times New Roman"/>
              </a:rPr>
              <a:t>Through</a:t>
            </a:r>
            <a:r>
              <a:rPr sz="2400" spc="405" dirty="0">
                <a:latin typeface="Times New Roman"/>
                <a:cs typeface="Times New Roman"/>
              </a:rPr>
              <a:t> </a:t>
            </a:r>
            <a:r>
              <a:rPr sz="2400" dirty="0">
                <a:latin typeface="Times New Roman"/>
                <a:cs typeface="Times New Roman"/>
              </a:rPr>
              <a:t>SQL</a:t>
            </a:r>
            <a:r>
              <a:rPr sz="2400" spc="390" dirty="0">
                <a:latin typeface="Times New Roman"/>
                <a:cs typeface="Times New Roman"/>
              </a:rPr>
              <a:t> </a:t>
            </a:r>
            <a:r>
              <a:rPr sz="2400" dirty="0">
                <a:latin typeface="Times New Roman"/>
                <a:cs typeface="Times New Roman"/>
              </a:rPr>
              <a:t>queries,</a:t>
            </a:r>
            <a:r>
              <a:rPr sz="2400" spc="420" dirty="0">
                <a:latin typeface="Times New Roman"/>
                <a:cs typeface="Times New Roman"/>
              </a:rPr>
              <a:t> </a:t>
            </a:r>
            <a:r>
              <a:rPr sz="2400" dirty="0">
                <a:latin typeface="Times New Roman"/>
                <a:cs typeface="Times New Roman"/>
              </a:rPr>
              <a:t>the</a:t>
            </a:r>
            <a:r>
              <a:rPr sz="2400" spc="380" dirty="0">
                <a:latin typeface="Times New Roman"/>
                <a:cs typeface="Times New Roman"/>
              </a:rPr>
              <a:t> </a:t>
            </a:r>
            <a:r>
              <a:rPr sz="2400" dirty="0">
                <a:latin typeface="Times New Roman"/>
                <a:cs typeface="Times New Roman"/>
              </a:rPr>
              <a:t>project</a:t>
            </a:r>
            <a:r>
              <a:rPr sz="2400" spc="380" dirty="0">
                <a:latin typeface="Times New Roman"/>
                <a:cs typeface="Times New Roman"/>
              </a:rPr>
              <a:t> </a:t>
            </a:r>
            <a:r>
              <a:rPr sz="2400" dirty="0">
                <a:latin typeface="Times New Roman"/>
                <a:cs typeface="Times New Roman"/>
              </a:rPr>
              <a:t>examines</a:t>
            </a:r>
            <a:r>
              <a:rPr sz="2400" spc="405" dirty="0">
                <a:latin typeface="Times New Roman"/>
                <a:cs typeface="Times New Roman"/>
              </a:rPr>
              <a:t> </a:t>
            </a:r>
            <a:r>
              <a:rPr sz="2400" dirty="0">
                <a:latin typeface="Times New Roman"/>
                <a:cs typeface="Times New Roman"/>
              </a:rPr>
              <a:t>how</a:t>
            </a:r>
            <a:r>
              <a:rPr sz="2400" spc="395" dirty="0">
                <a:latin typeface="Times New Roman"/>
                <a:cs typeface="Times New Roman"/>
              </a:rPr>
              <a:t> </a:t>
            </a:r>
            <a:r>
              <a:rPr sz="2400" dirty="0">
                <a:latin typeface="Times New Roman"/>
                <a:cs typeface="Times New Roman"/>
              </a:rPr>
              <a:t>different</a:t>
            </a:r>
            <a:r>
              <a:rPr sz="2400" spc="409" dirty="0">
                <a:latin typeface="Times New Roman"/>
                <a:cs typeface="Times New Roman"/>
              </a:rPr>
              <a:t> </a:t>
            </a:r>
            <a:r>
              <a:rPr sz="2400" dirty="0">
                <a:latin typeface="Times New Roman"/>
                <a:cs typeface="Times New Roman"/>
              </a:rPr>
              <a:t>countries</a:t>
            </a:r>
            <a:r>
              <a:rPr sz="2400" spc="375" dirty="0">
                <a:latin typeface="Times New Roman"/>
                <a:cs typeface="Times New Roman"/>
              </a:rPr>
              <a:t> </a:t>
            </a:r>
            <a:r>
              <a:rPr sz="2400" dirty="0">
                <a:latin typeface="Times New Roman"/>
                <a:cs typeface="Times New Roman"/>
              </a:rPr>
              <a:t>produce</a:t>
            </a:r>
            <a:r>
              <a:rPr sz="2400" spc="370" dirty="0">
                <a:latin typeface="Times New Roman"/>
                <a:cs typeface="Times New Roman"/>
              </a:rPr>
              <a:t> </a:t>
            </a:r>
            <a:r>
              <a:rPr sz="2400" spc="-25" dirty="0">
                <a:latin typeface="Times New Roman"/>
                <a:cs typeface="Times New Roman"/>
              </a:rPr>
              <a:t>and </a:t>
            </a:r>
            <a:r>
              <a:rPr sz="2400" dirty="0">
                <a:latin typeface="Times New Roman"/>
                <a:cs typeface="Times New Roman"/>
              </a:rPr>
              <a:t>consume</a:t>
            </a:r>
            <a:r>
              <a:rPr sz="2400" spc="120" dirty="0">
                <a:latin typeface="Times New Roman"/>
                <a:cs typeface="Times New Roman"/>
              </a:rPr>
              <a:t> </a:t>
            </a:r>
            <a:r>
              <a:rPr sz="2400" dirty="0">
                <a:latin typeface="Times New Roman"/>
                <a:cs typeface="Times New Roman"/>
              </a:rPr>
              <a:t>energy,</a:t>
            </a:r>
            <a:r>
              <a:rPr sz="2400" spc="145" dirty="0">
                <a:latin typeface="Times New Roman"/>
                <a:cs typeface="Times New Roman"/>
              </a:rPr>
              <a:t> </a:t>
            </a:r>
            <a:r>
              <a:rPr sz="2400" dirty="0">
                <a:latin typeface="Times New Roman"/>
                <a:cs typeface="Times New Roman"/>
              </a:rPr>
              <a:t>how</a:t>
            </a:r>
            <a:r>
              <a:rPr sz="2400" spc="155" dirty="0">
                <a:latin typeface="Times New Roman"/>
                <a:cs typeface="Times New Roman"/>
              </a:rPr>
              <a:t> </a:t>
            </a:r>
            <a:r>
              <a:rPr sz="2400" dirty="0">
                <a:latin typeface="Times New Roman"/>
                <a:cs typeface="Times New Roman"/>
              </a:rPr>
              <a:t>emissions</a:t>
            </a:r>
            <a:r>
              <a:rPr sz="2400" spc="145" dirty="0">
                <a:latin typeface="Times New Roman"/>
                <a:cs typeface="Times New Roman"/>
              </a:rPr>
              <a:t> </a:t>
            </a:r>
            <a:r>
              <a:rPr sz="2400" dirty="0">
                <a:latin typeface="Times New Roman"/>
                <a:cs typeface="Times New Roman"/>
              </a:rPr>
              <a:t>change</a:t>
            </a:r>
            <a:r>
              <a:rPr sz="2400" spc="170" dirty="0">
                <a:latin typeface="Times New Roman"/>
                <a:cs typeface="Times New Roman"/>
              </a:rPr>
              <a:t> </a:t>
            </a:r>
            <a:r>
              <a:rPr sz="2400" dirty="0">
                <a:latin typeface="Times New Roman"/>
                <a:cs typeface="Times New Roman"/>
              </a:rPr>
              <a:t>over</a:t>
            </a:r>
            <a:r>
              <a:rPr sz="2400" spc="165" dirty="0">
                <a:latin typeface="Times New Roman"/>
                <a:cs typeface="Times New Roman"/>
              </a:rPr>
              <a:t> </a:t>
            </a:r>
            <a:r>
              <a:rPr sz="2400" dirty="0">
                <a:latin typeface="Times New Roman"/>
                <a:cs typeface="Times New Roman"/>
              </a:rPr>
              <a:t>time,</a:t>
            </a:r>
            <a:r>
              <a:rPr sz="2400" spc="130" dirty="0">
                <a:latin typeface="Times New Roman"/>
                <a:cs typeface="Times New Roman"/>
              </a:rPr>
              <a:t> </a:t>
            </a:r>
            <a:r>
              <a:rPr sz="2400" dirty="0">
                <a:latin typeface="Times New Roman"/>
                <a:cs typeface="Times New Roman"/>
              </a:rPr>
              <a:t>how</a:t>
            </a:r>
            <a:r>
              <a:rPr sz="2400" spc="150" dirty="0">
                <a:latin typeface="Times New Roman"/>
                <a:cs typeface="Times New Roman"/>
              </a:rPr>
              <a:t> </a:t>
            </a:r>
            <a:r>
              <a:rPr sz="2400" dirty="0">
                <a:latin typeface="Times New Roman"/>
                <a:cs typeface="Times New Roman"/>
              </a:rPr>
              <a:t>population</a:t>
            </a:r>
            <a:r>
              <a:rPr sz="2400" spc="114" dirty="0">
                <a:latin typeface="Times New Roman"/>
                <a:cs typeface="Times New Roman"/>
              </a:rPr>
              <a:t> </a:t>
            </a:r>
            <a:r>
              <a:rPr sz="2400" dirty="0">
                <a:latin typeface="Times New Roman"/>
                <a:cs typeface="Times New Roman"/>
              </a:rPr>
              <a:t>growth</a:t>
            </a:r>
            <a:r>
              <a:rPr sz="2400" spc="125" dirty="0">
                <a:latin typeface="Times New Roman"/>
                <a:cs typeface="Times New Roman"/>
              </a:rPr>
              <a:t> </a:t>
            </a:r>
            <a:r>
              <a:rPr sz="2400" spc="-10" dirty="0">
                <a:latin typeface="Times New Roman"/>
                <a:cs typeface="Times New Roman"/>
              </a:rPr>
              <a:t>impacts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environment,</a:t>
            </a:r>
            <a:r>
              <a:rPr sz="2400" spc="-30" dirty="0">
                <a:latin typeface="Times New Roman"/>
                <a:cs typeface="Times New Roman"/>
              </a:rPr>
              <a:t> </a:t>
            </a:r>
            <a:r>
              <a:rPr sz="2400" dirty="0">
                <a:latin typeface="Times New Roman"/>
                <a:cs typeface="Times New Roman"/>
              </a:rPr>
              <a:t>and how</a:t>
            </a:r>
            <a:r>
              <a:rPr sz="2400" spc="-5" dirty="0">
                <a:latin typeface="Times New Roman"/>
                <a:cs typeface="Times New Roman"/>
              </a:rPr>
              <a:t> </a:t>
            </a:r>
            <a:r>
              <a:rPr sz="2400" dirty="0">
                <a:latin typeface="Times New Roman"/>
                <a:cs typeface="Times New Roman"/>
              </a:rPr>
              <a:t>economic</a:t>
            </a:r>
            <a:r>
              <a:rPr sz="2400" spc="-25" dirty="0">
                <a:latin typeface="Times New Roman"/>
                <a:cs typeface="Times New Roman"/>
              </a:rPr>
              <a:t> </a:t>
            </a:r>
            <a:r>
              <a:rPr sz="2400" dirty="0">
                <a:latin typeface="Times New Roman"/>
                <a:cs typeface="Times New Roman"/>
              </a:rPr>
              <a:t>factors</a:t>
            </a:r>
            <a:r>
              <a:rPr sz="2400" spc="-45" dirty="0">
                <a:latin typeface="Times New Roman"/>
                <a:cs typeface="Times New Roman"/>
              </a:rPr>
              <a:t> </a:t>
            </a:r>
            <a:r>
              <a:rPr sz="2400" dirty="0">
                <a:latin typeface="Times New Roman"/>
                <a:cs typeface="Times New Roman"/>
              </a:rPr>
              <a:t>like</a:t>
            </a:r>
            <a:r>
              <a:rPr sz="2400" spc="-40" dirty="0">
                <a:latin typeface="Times New Roman"/>
                <a:cs typeface="Times New Roman"/>
              </a:rPr>
              <a:t> </a:t>
            </a:r>
            <a:r>
              <a:rPr sz="2400" dirty="0">
                <a:latin typeface="Times New Roman"/>
                <a:cs typeface="Times New Roman"/>
              </a:rPr>
              <a:t>GDP</a:t>
            </a:r>
            <a:r>
              <a:rPr sz="2400" spc="20" dirty="0">
                <a:latin typeface="Times New Roman"/>
                <a:cs typeface="Times New Roman"/>
              </a:rPr>
              <a:t> </a:t>
            </a:r>
            <a:r>
              <a:rPr sz="2400" dirty="0">
                <a:latin typeface="Times New Roman"/>
                <a:cs typeface="Times New Roman"/>
              </a:rPr>
              <a:t>relate</a:t>
            </a:r>
            <a:r>
              <a:rPr sz="2400" spc="-3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energy</a:t>
            </a:r>
            <a:r>
              <a:rPr sz="2400" spc="-10" dirty="0">
                <a:latin typeface="Times New Roman"/>
                <a:cs typeface="Times New Roman"/>
              </a:rPr>
              <a:t> usage.</a:t>
            </a:r>
            <a:endParaRPr sz="2400" dirty="0">
              <a:latin typeface="Times New Roman"/>
              <a:cs typeface="Times New Roman"/>
            </a:endParaRPr>
          </a:p>
          <a:p>
            <a:pPr>
              <a:lnSpc>
                <a:spcPct val="100000"/>
              </a:lnSpc>
              <a:spcBef>
                <a:spcPts val="170"/>
              </a:spcBef>
              <a:buFont typeface="Wingdings"/>
              <a:buChar char=""/>
            </a:pPr>
            <a:endParaRPr sz="2400" dirty="0">
              <a:latin typeface="Times New Roman"/>
              <a:cs typeface="Times New Roman"/>
            </a:endParaRPr>
          </a:p>
          <a:p>
            <a:pPr marL="354330" marR="7620" indent="-342265" algn="just">
              <a:lnSpc>
                <a:spcPct val="99100"/>
              </a:lnSpc>
              <a:buFont typeface="Wingdings"/>
              <a:buChar char=""/>
              <a:tabLst>
                <a:tab pos="355600" algn="l"/>
              </a:tabLst>
            </a:pPr>
            <a:r>
              <a:rPr sz="2400" dirty="0">
                <a:latin typeface="Times New Roman"/>
                <a:cs typeface="Times New Roman"/>
              </a:rPr>
              <a:t>The</a:t>
            </a:r>
            <a:r>
              <a:rPr sz="2400" spc="495" dirty="0">
                <a:latin typeface="Times New Roman"/>
                <a:cs typeface="Times New Roman"/>
              </a:rPr>
              <a:t> </a:t>
            </a:r>
            <a:r>
              <a:rPr sz="2400" dirty="0">
                <a:latin typeface="Times New Roman"/>
                <a:cs typeface="Times New Roman"/>
              </a:rPr>
              <a:t>goal</a:t>
            </a:r>
            <a:r>
              <a:rPr sz="2400" spc="545" dirty="0">
                <a:latin typeface="Times New Roman"/>
                <a:cs typeface="Times New Roman"/>
              </a:rPr>
              <a:t> </a:t>
            </a:r>
            <a:r>
              <a:rPr sz="2400" dirty="0">
                <a:latin typeface="Times New Roman"/>
                <a:cs typeface="Times New Roman"/>
              </a:rPr>
              <a:t>is</a:t>
            </a:r>
            <a:r>
              <a:rPr sz="2400" spc="530" dirty="0">
                <a:latin typeface="Times New Roman"/>
                <a:cs typeface="Times New Roman"/>
              </a:rPr>
              <a:t> </a:t>
            </a:r>
            <a:r>
              <a:rPr sz="2400" dirty="0">
                <a:latin typeface="Times New Roman"/>
                <a:cs typeface="Times New Roman"/>
              </a:rPr>
              <a:t>to</a:t>
            </a:r>
            <a:r>
              <a:rPr sz="2400" spc="525" dirty="0">
                <a:latin typeface="Times New Roman"/>
                <a:cs typeface="Times New Roman"/>
              </a:rPr>
              <a:t> </a:t>
            </a:r>
            <a:r>
              <a:rPr sz="2400" dirty="0">
                <a:latin typeface="Times New Roman"/>
                <a:cs typeface="Times New Roman"/>
              </a:rPr>
              <a:t>turn</a:t>
            </a:r>
            <a:r>
              <a:rPr sz="2400" spc="505" dirty="0">
                <a:latin typeface="Times New Roman"/>
                <a:cs typeface="Times New Roman"/>
              </a:rPr>
              <a:t> </a:t>
            </a:r>
            <a:r>
              <a:rPr sz="2400" dirty="0">
                <a:latin typeface="Times New Roman"/>
                <a:cs typeface="Times New Roman"/>
              </a:rPr>
              <a:t>raw</a:t>
            </a:r>
            <a:r>
              <a:rPr sz="2400" spc="530" dirty="0">
                <a:latin typeface="Times New Roman"/>
                <a:cs typeface="Times New Roman"/>
              </a:rPr>
              <a:t> </a:t>
            </a:r>
            <a:r>
              <a:rPr sz="2400" dirty="0">
                <a:latin typeface="Times New Roman"/>
                <a:cs typeface="Times New Roman"/>
              </a:rPr>
              <a:t>global</a:t>
            </a:r>
            <a:r>
              <a:rPr sz="2400" spc="540" dirty="0">
                <a:latin typeface="Times New Roman"/>
                <a:cs typeface="Times New Roman"/>
              </a:rPr>
              <a:t> </a:t>
            </a:r>
            <a:r>
              <a:rPr sz="2400" dirty="0">
                <a:latin typeface="Times New Roman"/>
                <a:cs typeface="Times New Roman"/>
              </a:rPr>
              <a:t>data</a:t>
            </a:r>
            <a:r>
              <a:rPr sz="2400" spc="540" dirty="0">
                <a:latin typeface="Times New Roman"/>
                <a:cs typeface="Times New Roman"/>
              </a:rPr>
              <a:t> </a:t>
            </a:r>
            <a:r>
              <a:rPr sz="2400" dirty="0">
                <a:latin typeface="Times New Roman"/>
                <a:cs typeface="Times New Roman"/>
              </a:rPr>
              <a:t>into</a:t>
            </a:r>
            <a:r>
              <a:rPr sz="2400" spc="515" dirty="0">
                <a:latin typeface="Times New Roman"/>
                <a:cs typeface="Times New Roman"/>
              </a:rPr>
              <a:t> </a:t>
            </a:r>
            <a:r>
              <a:rPr sz="2400" dirty="0">
                <a:latin typeface="Times New Roman"/>
                <a:cs typeface="Times New Roman"/>
              </a:rPr>
              <a:t>meaningful</a:t>
            </a:r>
            <a:r>
              <a:rPr sz="2400" spc="515" dirty="0">
                <a:latin typeface="Times New Roman"/>
                <a:cs typeface="Times New Roman"/>
              </a:rPr>
              <a:t> </a:t>
            </a:r>
            <a:r>
              <a:rPr sz="2400" dirty="0">
                <a:latin typeface="Times New Roman"/>
                <a:cs typeface="Times New Roman"/>
              </a:rPr>
              <a:t>insights</a:t>
            </a:r>
            <a:r>
              <a:rPr sz="2400" spc="535" dirty="0">
                <a:latin typeface="Times New Roman"/>
                <a:cs typeface="Times New Roman"/>
              </a:rPr>
              <a:t> </a:t>
            </a:r>
            <a:r>
              <a:rPr sz="2400" dirty="0">
                <a:latin typeface="Times New Roman"/>
                <a:cs typeface="Times New Roman"/>
              </a:rPr>
              <a:t>that</a:t>
            </a:r>
            <a:r>
              <a:rPr sz="2400" spc="540" dirty="0">
                <a:latin typeface="Times New Roman"/>
                <a:cs typeface="Times New Roman"/>
              </a:rPr>
              <a:t> </a:t>
            </a:r>
            <a:r>
              <a:rPr sz="2400" dirty="0">
                <a:latin typeface="Times New Roman"/>
                <a:cs typeface="Times New Roman"/>
              </a:rPr>
              <a:t>help</a:t>
            </a:r>
            <a:r>
              <a:rPr sz="2400" spc="545" dirty="0">
                <a:latin typeface="Times New Roman"/>
                <a:cs typeface="Times New Roman"/>
              </a:rPr>
              <a:t> </a:t>
            </a:r>
            <a:r>
              <a:rPr sz="2400" spc="-10" dirty="0">
                <a:latin typeface="Times New Roman"/>
                <a:cs typeface="Times New Roman"/>
              </a:rPr>
              <a:t>evaluate 	</a:t>
            </a:r>
            <a:r>
              <a:rPr sz="2400" dirty="0">
                <a:latin typeface="Times New Roman"/>
                <a:cs typeface="Times New Roman"/>
              </a:rPr>
              <a:t>environmental</a:t>
            </a:r>
            <a:r>
              <a:rPr sz="2400" spc="105" dirty="0">
                <a:latin typeface="Times New Roman"/>
                <a:cs typeface="Times New Roman"/>
              </a:rPr>
              <a:t> </a:t>
            </a:r>
            <a:r>
              <a:rPr sz="2400" dirty="0">
                <a:latin typeface="Times New Roman"/>
                <a:cs typeface="Times New Roman"/>
              </a:rPr>
              <a:t>performance,</a:t>
            </a:r>
            <a:r>
              <a:rPr sz="2400" spc="105" dirty="0">
                <a:latin typeface="Times New Roman"/>
                <a:cs typeface="Times New Roman"/>
              </a:rPr>
              <a:t> </a:t>
            </a:r>
            <a:r>
              <a:rPr sz="2400" dirty="0">
                <a:latin typeface="Times New Roman"/>
                <a:cs typeface="Times New Roman"/>
              </a:rPr>
              <a:t>compare</a:t>
            </a:r>
            <a:r>
              <a:rPr sz="2400" spc="110" dirty="0">
                <a:latin typeface="Times New Roman"/>
                <a:cs typeface="Times New Roman"/>
              </a:rPr>
              <a:t> </a:t>
            </a:r>
            <a:r>
              <a:rPr sz="2400" dirty="0">
                <a:latin typeface="Times New Roman"/>
                <a:cs typeface="Times New Roman"/>
              </a:rPr>
              <a:t>countries,</a:t>
            </a:r>
            <a:r>
              <a:rPr sz="2400" spc="145" dirty="0">
                <a:latin typeface="Times New Roman"/>
                <a:cs typeface="Times New Roman"/>
              </a:rPr>
              <a:t> </a:t>
            </a:r>
            <a:r>
              <a:rPr sz="2400" dirty="0">
                <a:latin typeface="Times New Roman"/>
                <a:cs typeface="Times New Roman"/>
              </a:rPr>
              <a:t>and</a:t>
            </a:r>
            <a:r>
              <a:rPr sz="2400" spc="130" dirty="0">
                <a:latin typeface="Times New Roman"/>
                <a:cs typeface="Times New Roman"/>
              </a:rPr>
              <a:t> </a:t>
            </a:r>
            <a:r>
              <a:rPr sz="2400" dirty="0">
                <a:latin typeface="Times New Roman"/>
                <a:cs typeface="Times New Roman"/>
              </a:rPr>
              <a:t>support</a:t>
            </a:r>
            <a:r>
              <a:rPr sz="2400" spc="140" dirty="0">
                <a:latin typeface="Times New Roman"/>
                <a:cs typeface="Times New Roman"/>
              </a:rPr>
              <a:t> </a:t>
            </a:r>
            <a:r>
              <a:rPr sz="2400" dirty="0">
                <a:latin typeface="Times New Roman"/>
                <a:cs typeface="Times New Roman"/>
              </a:rPr>
              <a:t>better</a:t>
            </a:r>
            <a:r>
              <a:rPr sz="2400" spc="130" dirty="0">
                <a:latin typeface="Times New Roman"/>
                <a:cs typeface="Times New Roman"/>
              </a:rPr>
              <a:t> </a:t>
            </a:r>
            <a:r>
              <a:rPr sz="2400" spc="-10" dirty="0">
                <a:latin typeface="Times New Roman"/>
                <a:cs typeface="Times New Roman"/>
              </a:rPr>
              <a:t>decision-making 	</a:t>
            </a:r>
            <a:r>
              <a:rPr sz="2400" dirty="0">
                <a:latin typeface="Times New Roman"/>
                <a:cs typeface="Times New Roman"/>
              </a:rPr>
              <a:t>in</a:t>
            </a:r>
            <a:r>
              <a:rPr sz="2400" spc="-50" dirty="0">
                <a:latin typeface="Times New Roman"/>
                <a:cs typeface="Times New Roman"/>
              </a:rPr>
              <a:t> </a:t>
            </a:r>
            <a:r>
              <a:rPr sz="2400" dirty="0">
                <a:latin typeface="Times New Roman"/>
                <a:cs typeface="Times New Roman"/>
              </a:rPr>
              <a:t>sustainability</a:t>
            </a:r>
            <a:r>
              <a:rPr sz="2400" spc="-1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energy</a:t>
            </a:r>
            <a:r>
              <a:rPr sz="2400" spc="-30" dirty="0">
                <a:latin typeface="Times New Roman"/>
                <a:cs typeface="Times New Roman"/>
              </a:rPr>
              <a:t> </a:t>
            </a:r>
            <a:r>
              <a:rPr sz="2400" spc="-10" dirty="0">
                <a:latin typeface="Times New Roman"/>
                <a:cs typeface="Times New Roman"/>
              </a:rPr>
              <a:t>management.</a:t>
            </a:r>
            <a:endParaRPr sz="24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542" y="161607"/>
            <a:ext cx="10689272" cy="568681"/>
          </a:xfrm>
          <a:prstGeom prst="rect">
            <a:avLst/>
          </a:prstGeom>
        </p:spPr>
        <p:txBody>
          <a:bodyPr vert="horz" wrap="square" lIns="0" tIns="75501" rIns="0" bIns="0" rtlCol="0">
            <a:spAutoFit/>
          </a:bodyPr>
          <a:lstStyle/>
          <a:p>
            <a:pPr marL="484505">
              <a:lnSpc>
                <a:spcPct val="100000"/>
              </a:lnSpc>
              <a:spcBef>
                <a:spcPts val="130"/>
              </a:spcBef>
            </a:pPr>
            <a:r>
              <a:rPr dirty="0">
                <a:solidFill>
                  <a:srgbClr val="FF0000"/>
                </a:solidFill>
              </a:rPr>
              <a:t>ER</a:t>
            </a:r>
            <a:r>
              <a:rPr spc="-20" dirty="0">
                <a:solidFill>
                  <a:srgbClr val="FF0000"/>
                </a:solidFill>
              </a:rPr>
              <a:t> </a:t>
            </a:r>
            <a:r>
              <a:rPr spc="-10" dirty="0">
                <a:solidFill>
                  <a:srgbClr val="FF0000"/>
                </a:solidFill>
              </a:rPr>
              <a:t>D</a:t>
            </a:r>
            <a:r>
              <a:rPr lang="en-US" spc="-10" dirty="0">
                <a:solidFill>
                  <a:srgbClr val="FF0000"/>
                </a:solidFill>
              </a:rPr>
              <a:t>iagram</a:t>
            </a:r>
            <a:endParaRPr spc="-10" dirty="0">
              <a:solidFill>
                <a:srgbClr val="FF0000"/>
              </a:solidFill>
            </a:endParaRPr>
          </a:p>
        </p:txBody>
      </p:sp>
      <p:pic>
        <p:nvPicPr>
          <p:cNvPr id="5" name="Picture 4">
            <a:extLst>
              <a:ext uri="{FF2B5EF4-FFF2-40B4-BE49-F238E27FC236}">
                <a16:creationId xmlns:a16="http://schemas.microsoft.com/office/drawing/2014/main" id="{0B93CDA9-6B85-C761-3AAF-72F4499E98CB}"/>
              </a:ext>
            </a:extLst>
          </p:cNvPr>
          <p:cNvPicPr>
            <a:picLocks noChangeAspect="1"/>
          </p:cNvPicPr>
          <p:nvPr/>
        </p:nvPicPr>
        <p:blipFill>
          <a:blip r:embed="rId2"/>
          <a:stretch>
            <a:fillRect/>
          </a:stretch>
        </p:blipFill>
        <p:spPr>
          <a:xfrm>
            <a:off x="1371600" y="892044"/>
            <a:ext cx="9601199" cy="50739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81000"/>
            <a:ext cx="10689272" cy="558806"/>
          </a:xfrm>
          <a:prstGeom prst="rect">
            <a:avLst/>
          </a:prstGeom>
        </p:spPr>
        <p:txBody>
          <a:bodyPr vert="horz" wrap="square" lIns="0" tIns="65722" rIns="0" bIns="0" rtlCol="0">
            <a:spAutoFit/>
          </a:bodyPr>
          <a:lstStyle/>
          <a:p>
            <a:pPr marL="238760">
              <a:lnSpc>
                <a:spcPct val="100000"/>
              </a:lnSpc>
              <a:spcBef>
                <a:spcPts val="130"/>
              </a:spcBef>
            </a:pPr>
            <a:r>
              <a:rPr dirty="0">
                <a:solidFill>
                  <a:srgbClr val="FF0000"/>
                </a:solidFill>
              </a:rPr>
              <a:t>S</a:t>
            </a:r>
            <a:r>
              <a:rPr lang="en-US" dirty="0">
                <a:solidFill>
                  <a:srgbClr val="FF0000"/>
                </a:solidFill>
              </a:rPr>
              <a:t>chema</a:t>
            </a:r>
            <a:r>
              <a:rPr spc="-110" dirty="0">
                <a:solidFill>
                  <a:srgbClr val="FF0000"/>
                </a:solidFill>
              </a:rPr>
              <a:t> </a:t>
            </a:r>
            <a:r>
              <a:rPr spc="-10" dirty="0">
                <a:solidFill>
                  <a:srgbClr val="FF0000"/>
                </a:solidFill>
              </a:rPr>
              <a:t>E</a:t>
            </a:r>
            <a:r>
              <a:rPr lang="en-IN" spc="-10" dirty="0" err="1">
                <a:solidFill>
                  <a:srgbClr val="FF0000"/>
                </a:solidFill>
              </a:rPr>
              <a:t>xplanation</a:t>
            </a:r>
            <a:endParaRPr spc="-10" dirty="0">
              <a:solidFill>
                <a:srgbClr val="FF0000"/>
              </a:solidFill>
            </a:endParaRPr>
          </a:p>
        </p:txBody>
      </p:sp>
      <p:sp>
        <p:nvSpPr>
          <p:cNvPr id="3" name="object 3"/>
          <p:cNvSpPr txBox="1"/>
          <p:nvPr/>
        </p:nvSpPr>
        <p:spPr>
          <a:xfrm>
            <a:off x="685800" y="1600200"/>
            <a:ext cx="6620827" cy="2475678"/>
          </a:xfrm>
          <a:prstGeom prst="rect">
            <a:avLst/>
          </a:prstGeom>
        </p:spPr>
        <p:txBody>
          <a:bodyPr vert="horz" wrap="square" lIns="0" tIns="13335" rIns="0" bIns="0" rtlCol="0">
            <a:spAutoFit/>
          </a:bodyPr>
          <a:lstStyle/>
          <a:p>
            <a:pPr marL="12700" marR="5080" algn="just">
              <a:lnSpc>
                <a:spcPct val="99900"/>
              </a:lnSpc>
              <a:spcBef>
                <a:spcPts val="105"/>
              </a:spcBef>
            </a:pPr>
            <a:r>
              <a:rPr lang="en-US" sz="2000" i="1" dirty="0">
                <a:latin typeface="Times New Roman" panose="02020603050405020304" pitchFamily="18" charset="0"/>
                <a:cs typeface="Times New Roman" panose="02020603050405020304" pitchFamily="18" charset="0"/>
              </a:rPr>
              <a:t>Each country acts as a master record that connects to multiple rows in the emission, population, production, consumption, and </a:t>
            </a:r>
            <a:r>
              <a:rPr lang="en-US" sz="2000" i="1" dirty="0" err="1">
                <a:latin typeface="Times New Roman" panose="02020603050405020304" pitchFamily="18" charset="0"/>
                <a:cs typeface="Times New Roman" panose="02020603050405020304" pitchFamily="18" charset="0"/>
              </a:rPr>
              <a:t>gdp</a:t>
            </a:r>
            <a:r>
              <a:rPr lang="en-US" sz="2000" i="1" dirty="0">
                <a:latin typeface="Times New Roman" panose="02020603050405020304" pitchFamily="18" charset="0"/>
                <a:cs typeface="Times New Roman" panose="02020603050405020304" pitchFamily="18" charset="0"/>
              </a:rPr>
              <a:t> tables through a foreign key (for example, </a:t>
            </a:r>
            <a:r>
              <a:rPr lang="en-US" sz="2000" i="1" dirty="0" err="1">
                <a:latin typeface="Times New Roman" panose="02020603050405020304" pitchFamily="18" charset="0"/>
                <a:cs typeface="Times New Roman" panose="02020603050405020304" pitchFamily="18" charset="0"/>
              </a:rPr>
              <a:t>country_id</a:t>
            </a:r>
            <a:r>
              <a:rPr lang="en-US" sz="2000" i="1" dirty="0">
                <a:latin typeface="Times New Roman" panose="02020603050405020304" pitchFamily="18" charset="0"/>
                <a:cs typeface="Times New Roman" panose="02020603050405020304" pitchFamily="18" charset="0"/>
              </a:rPr>
              <a:t>). This design creates a one‑to‑many relationship where one country can have many related records for emissions, population, energy production and consumption, and GDP over time, enabling multi-year, multi-country analysis of energy and economic trends.</a:t>
            </a:r>
            <a:r>
              <a:rPr lang="en-US" sz="1800" b="1" dirty="0">
                <a:latin typeface="Times New Roman" panose="02020603050405020304" pitchFamily="18" charset="0"/>
                <a:cs typeface="Times New Roman" panose="02020603050405020304" pitchFamily="18" charset="0"/>
              </a:rPr>
              <a:t>	</a:t>
            </a:r>
            <a:endParaRPr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B472FB1-53E2-C36C-1FCB-E1B6C79D158C}"/>
              </a:ext>
            </a:extLst>
          </p:cNvPr>
          <p:cNvSpPr txBox="1"/>
          <p:nvPr/>
        </p:nvSpPr>
        <p:spPr>
          <a:xfrm>
            <a:off x="7772400" y="1447800"/>
            <a:ext cx="3657600" cy="2954655"/>
          </a:xfrm>
          <a:prstGeom prst="rect">
            <a:avLst/>
          </a:prstGeom>
          <a:noFill/>
        </p:spPr>
        <p:txBody>
          <a:bodyPr wrap="square" rtlCol="0">
            <a:spAutoFit/>
          </a:bodyPr>
          <a:lstStyle/>
          <a:p>
            <a:pPr rtl="0"/>
            <a:r>
              <a:rPr lang="en-US" sz="1800" b="1" dirty="0">
                <a:latin typeface="Times New Roman" panose="02020603050405020304" pitchFamily="18" charset="0"/>
                <a:cs typeface="Times New Roman" panose="02020603050405020304" pitchFamily="18" charset="0"/>
              </a:rPr>
              <a:t>country (1) → (many) emission</a:t>
            </a:r>
          </a:p>
          <a:p>
            <a:pPr rtl="0"/>
            <a:endParaRPr lang="en-US" sz="2400" b="0" dirty="0">
              <a:effectLst/>
              <a:latin typeface="Times New Roman" panose="02020603050405020304" pitchFamily="18" charset="0"/>
              <a:cs typeface="Times New Roman" panose="02020603050405020304" pitchFamily="18" charset="0"/>
            </a:endParaRPr>
          </a:p>
          <a:p>
            <a:pPr rtl="0"/>
            <a:r>
              <a:rPr lang="en-US" sz="1800" b="1" dirty="0">
                <a:latin typeface="Times New Roman" panose="02020603050405020304" pitchFamily="18" charset="0"/>
                <a:cs typeface="Times New Roman" panose="02020603050405020304" pitchFamily="18" charset="0"/>
              </a:rPr>
              <a:t>country (1) → (many) population</a:t>
            </a:r>
            <a:br>
              <a:rPr lang="en-US" sz="1800" b="1" dirty="0">
                <a:latin typeface="Times New Roman" panose="02020603050405020304" pitchFamily="18" charset="0"/>
                <a:cs typeface="Times New Roman" panose="02020603050405020304" pitchFamily="18" charset="0"/>
              </a:rPr>
            </a:br>
            <a:endParaRPr lang="en-US" sz="2400" b="0" dirty="0">
              <a:effectLst/>
              <a:latin typeface="Times New Roman" panose="02020603050405020304" pitchFamily="18" charset="0"/>
              <a:cs typeface="Times New Roman" panose="02020603050405020304" pitchFamily="18" charset="0"/>
            </a:endParaRPr>
          </a:p>
          <a:p>
            <a:pPr rtl="0"/>
            <a:r>
              <a:rPr lang="en-US" sz="1800" b="1" dirty="0">
                <a:latin typeface="Times New Roman" panose="02020603050405020304" pitchFamily="18" charset="0"/>
                <a:cs typeface="Times New Roman" panose="02020603050405020304" pitchFamily="18" charset="0"/>
              </a:rPr>
              <a:t>country (1) → (many) production</a:t>
            </a:r>
            <a:br>
              <a:rPr lang="en-US" sz="1800" b="1" dirty="0">
                <a:latin typeface="Times New Roman" panose="02020603050405020304" pitchFamily="18" charset="0"/>
                <a:cs typeface="Times New Roman" panose="02020603050405020304" pitchFamily="18" charset="0"/>
              </a:rPr>
            </a:br>
            <a:endParaRPr lang="en-US" sz="2400" b="0" dirty="0">
              <a:effectLst/>
              <a:latin typeface="Times New Roman" panose="02020603050405020304" pitchFamily="18" charset="0"/>
              <a:cs typeface="Times New Roman" panose="02020603050405020304" pitchFamily="18" charset="0"/>
            </a:endParaRPr>
          </a:p>
          <a:p>
            <a:pPr rtl="0"/>
            <a:r>
              <a:rPr lang="en-US" sz="1800" b="1" dirty="0">
                <a:latin typeface="Times New Roman" panose="02020603050405020304" pitchFamily="18" charset="0"/>
                <a:cs typeface="Times New Roman" panose="02020603050405020304" pitchFamily="18" charset="0"/>
              </a:rPr>
              <a:t>country (1) → (many) consumption</a:t>
            </a:r>
            <a:br>
              <a:rPr lang="en-US" sz="1800" b="1" dirty="0">
                <a:latin typeface="Times New Roman" panose="02020603050405020304" pitchFamily="18" charset="0"/>
                <a:cs typeface="Times New Roman" panose="02020603050405020304" pitchFamily="18" charset="0"/>
              </a:rPr>
            </a:br>
            <a:endParaRPr lang="en-US" sz="2400" b="0" dirty="0">
              <a:effectLst/>
              <a:latin typeface="Times New Roman" panose="02020603050405020304" pitchFamily="18" charset="0"/>
              <a:cs typeface="Times New Roman" panose="02020603050405020304" pitchFamily="18" charset="0"/>
            </a:endParaRPr>
          </a:p>
          <a:p>
            <a:pPr rtl="0"/>
            <a:r>
              <a:rPr lang="en-US" sz="1800" b="1" dirty="0">
                <a:latin typeface="Times New Roman" panose="02020603050405020304" pitchFamily="18" charset="0"/>
                <a:cs typeface="Times New Roman" panose="02020603050405020304" pitchFamily="18" charset="0"/>
              </a:rPr>
              <a:t>country (1) → (many) </a:t>
            </a:r>
            <a:r>
              <a:rPr lang="en-US" sz="1800" b="1" dirty="0" err="1">
                <a:latin typeface="Times New Roman" panose="02020603050405020304" pitchFamily="18" charset="0"/>
                <a:cs typeface="Times New Roman" panose="02020603050405020304" pitchFamily="18" charset="0"/>
              </a:rPr>
              <a:t>gdp</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0077" y="941069"/>
            <a:ext cx="9583420" cy="386003"/>
          </a:xfrm>
          <a:prstGeom prst="rect">
            <a:avLst/>
          </a:prstGeom>
        </p:spPr>
        <p:txBody>
          <a:bodyPr vert="horz" wrap="square" lIns="0" tIns="16510" rIns="0" bIns="0" rtlCol="0">
            <a:spAutoFit/>
          </a:bodyPr>
          <a:lstStyle/>
          <a:p>
            <a:pPr marL="12700">
              <a:lnSpc>
                <a:spcPct val="100000"/>
              </a:lnSpc>
              <a:spcBef>
                <a:spcPts val="130"/>
              </a:spcBef>
            </a:pPr>
            <a:r>
              <a:rPr lang="en-US" sz="2400" b="1" i="1" dirty="0">
                <a:latin typeface="Times New Roman"/>
                <a:cs typeface="Times New Roman"/>
              </a:rPr>
              <a:t>Total </a:t>
            </a:r>
            <a:r>
              <a:rPr sz="2400" b="1" i="1" dirty="0">
                <a:latin typeface="Times New Roman"/>
                <a:cs typeface="Times New Roman"/>
              </a:rPr>
              <a:t>emission per</a:t>
            </a:r>
            <a:r>
              <a:rPr sz="2400" b="1" i="1" spc="15" dirty="0">
                <a:latin typeface="Times New Roman"/>
                <a:cs typeface="Times New Roman"/>
              </a:rPr>
              <a:t> </a:t>
            </a:r>
            <a:r>
              <a:rPr sz="2400" b="1" i="1" dirty="0">
                <a:latin typeface="Times New Roman"/>
                <a:cs typeface="Times New Roman"/>
              </a:rPr>
              <a:t>country</a:t>
            </a:r>
            <a:r>
              <a:rPr sz="2400" b="1" i="1" spc="-30" dirty="0">
                <a:latin typeface="Times New Roman"/>
                <a:cs typeface="Times New Roman"/>
              </a:rPr>
              <a:t> </a:t>
            </a:r>
            <a:r>
              <a:rPr sz="2400" b="1" i="1" dirty="0">
                <a:latin typeface="Times New Roman"/>
                <a:cs typeface="Times New Roman"/>
              </a:rPr>
              <a:t>for</a:t>
            </a:r>
            <a:r>
              <a:rPr sz="2400" b="1" i="1" spc="-55" dirty="0">
                <a:latin typeface="Times New Roman"/>
                <a:cs typeface="Times New Roman"/>
              </a:rPr>
              <a:t> </a:t>
            </a:r>
            <a:r>
              <a:rPr sz="2400" b="1" i="1" dirty="0">
                <a:latin typeface="Times New Roman"/>
                <a:cs typeface="Times New Roman"/>
              </a:rPr>
              <a:t>the</a:t>
            </a:r>
            <a:r>
              <a:rPr sz="2400" b="1" i="1" spc="-35" dirty="0">
                <a:latin typeface="Times New Roman"/>
                <a:cs typeface="Times New Roman"/>
              </a:rPr>
              <a:t> </a:t>
            </a:r>
            <a:r>
              <a:rPr sz="2400" b="1" i="1" dirty="0">
                <a:latin typeface="Times New Roman"/>
                <a:cs typeface="Times New Roman"/>
              </a:rPr>
              <a:t>most</a:t>
            </a:r>
            <a:r>
              <a:rPr sz="2400" b="1" i="1" spc="-15" dirty="0">
                <a:latin typeface="Times New Roman"/>
                <a:cs typeface="Times New Roman"/>
              </a:rPr>
              <a:t> </a:t>
            </a:r>
            <a:r>
              <a:rPr sz="2400" b="1" i="1" dirty="0">
                <a:latin typeface="Times New Roman"/>
                <a:cs typeface="Times New Roman"/>
              </a:rPr>
              <a:t>recent</a:t>
            </a:r>
            <a:r>
              <a:rPr sz="2400" b="1" i="1" spc="-15" dirty="0">
                <a:latin typeface="Times New Roman"/>
                <a:cs typeface="Times New Roman"/>
              </a:rPr>
              <a:t> </a:t>
            </a:r>
            <a:r>
              <a:rPr sz="2400" b="1" i="1" dirty="0">
                <a:latin typeface="Times New Roman"/>
                <a:cs typeface="Times New Roman"/>
              </a:rPr>
              <a:t>year</a:t>
            </a:r>
            <a:r>
              <a:rPr sz="2400" b="1" i="1" spc="-5" dirty="0">
                <a:latin typeface="Times New Roman"/>
                <a:cs typeface="Times New Roman"/>
              </a:rPr>
              <a:t> </a:t>
            </a:r>
            <a:r>
              <a:rPr sz="2400" b="1" i="1" spc="-10" dirty="0">
                <a:latin typeface="Times New Roman"/>
                <a:cs typeface="Times New Roman"/>
              </a:rPr>
              <a:t>available</a:t>
            </a:r>
            <a:endParaRPr sz="2750" dirty="0">
              <a:latin typeface="Times New Roman"/>
              <a:cs typeface="Times New Roman"/>
            </a:endParaRPr>
          </a:p>
        </p:txBody>
      </p:sp>
      <p:sp>
        <p:nvSpPr>
          <p:cNvPr id="3" name="object 3"/>
          <p:cNvSpPr txBox="1">
            <a:spLocks noGrp="1"/>
          </p:cNvSpPr>
          <p:nvPr>
            <p:ph type="ctrTitle"/>
          </p:nvPr>
        </p:nvSpPr>
        <p:spPr>
          <a:prstGeom prst="rect">
            <a:avLst/>
          </a:prstGeom>
        </p:spPr>
        <p:txBody>
          <a:bodyPr vert="horz" wrap="square" lIns="0" tIns="16510" rIns="0" bIns="0" rtlCol="0">
            <a:spAutoFit/>
          </a:bodyPr>
          <a:lstStyle/>
          <a:p>
            <a:pPr marL="12700">
              <a:lnSpc>
                <a:spcPct val="100000"/>
              </a:lnSpc>
              <a:spcBef>
                <a:spcPts val="130"/>
              </a:spcBef>
            </a:pPr>
            <a:r>
              <a:rPr dirty="0">
                <a:solidFill>
                  <a:srgbClr val="FF0000"/>
                </a:solidFill>
              </a:rPr>
              <a:t>Key</a:t>
            </a:r>
            <a:r>
              <a:rPr spc="-100" dirty="0">
                <a:solidFill>
                  <a:srgbClr val="FF0000"/>
                </a:solidFill>
              </a:rPr>
              <a:t> </a:t>
            </a:r>
            <a:r>
              <a:rPr dirty="0">
                <a:solidFill>
                  <a:srgbClr val="FF0000"/>
                </a:solidFill>
              </a:rPr>
              <a:t>analysis</a:t>
            </a:r>
            <a:r>
              <a:rPr spc="-70" dirty="0">
                <a:solidFill>
                  <a:srgbClr val="FF0000"/>
                </a:solidFill>
              </a:rPr>
              <a:t> </a:t>
            </a:r>
            <a:r>
              <a:rPr dirty="0">
                <a:solidFill>
                  <a:srgbClr val="FF0000"/>
                </a:solidFill>
              </a:rPr>
              <a:t>questions</a:t>
            </a:r>
            <a:r>
              <a:rPr spc="-60" dirty="0">
                <a:solidFill>
                  <a:srgbClr val="FF0000"/>
                </a:solidFill>
              </a:rPr>
              <a:t> </a:t>
            </a:r>
            <a:r>
              <a:rPr dirty="0">
                <a:solidFill>
                  <a:srgbClr val="FF0000"/>
                </a:solidFill>
              </a:rPr>
              <a:t>(use</a:t>
            </a:r>
            <a:r>
              <a:rPr spc="-30" dirty="0">
                <a:solidFill>
                  <a:srgbClr val="FF0000"/>
                </a:solidFill>
              </a:rPr>
              <a:t> </a:t>
            </a:r>
            <a:r>
              <a:rPr spc="-10" dirty="0">
                <a:solidFill>
                  <a:srgbClr val="FF0000"/>
                </a:solidFill>
              </a:rPr>
              <a:t>cases)</a:t>
            </a:r>
          </a:p>
        </p:txBody>
      </p:sp>
      <p:pic>
        <p:nvPicPr>
          <p:cNvPr id="7" name="Picture 6">
            <a:extLst>
              <a:ext uri="{FF2B5EF4-FFF2-40B4-BE49-F238E27FC236}">
                <a16:creationId xmlns:a16="http://schemas.microsoft.com/office/drawing/2014/main" id="{075A3CFD-C6D3-C3EB-55D4-EFD3F84582C6}"/>
              </a:ext>
            </a:extLst>
          </p:cNvPr>
          <p:cNvPicPr>
            <a:picLocks noChangeAspect="1"/>
          </p:cNvPicPr>
          <p:nvPr/>
        </p:nvPicPr>
        <p:blipFill>
          <a:blip r:embed="rId2"/>
          <a:stretch>
            <a:fillRect/>
          </a:stretch>
        </p:blipFill>
        <p:spPr>
          <a:xfrm>
            <a:off x="914400" y="1752600"/>
            <a:ext cx="5867400" cy="1028844"/>
          </a:xfrm>
          <a:prstGeom prst="rect">
            <a:avLst/>
          </a:prstGeom>
        </p:spPr>
      </p:pic>
      <p:pic>
        <p:nvPicPr>
          <p:cNvPr id="11" name="Picture 10">
            <a:extLst>
              <a:ext uri="{FF2B5EF4-FFF2-40B4-BE49-F238E27FC236}">
                <a16:creationId xmlns:a16="http://schemas.microsoft.com/office/drawing/2014/main" id="{08D4B8AF-4D4F-B53D-5022-6120FD99E689}"/>
              </a:ext>
            </a:extLst>
          </p:cNvPr>
          <p:cNvPicPr>
            <a:picLocks noChangeAspect="1"/>
          </p:cNvPicPr>
          <p:nvPr/>
        </p:nvPicPr>
        <p:blipFill>
          <a:blip r:embed="rId3"/>
          <a:stretch>
            <a:fillRect/>
          </a:stretch>
        </p:blipFill>
        <p:spPr>
          <a:xfrm>
            <a:off x="7010400" y="1474555"/>
            <a:ext cx="3029373" cy="46297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9132" y="310338"/>
            <a:ext cx="10413682" cy="451662"/>
          </a:xfrm>
          <a:prstGeom prst="rect">
            <a:avLst/>
          </a:prstGeom>
        </p:spPr>
        <p:txBody>
          <a:bodyPr vert="horz" wrap="square" lIns="0" tIns="81534" rIns="0" bIns="0" rtlCol="0">
            <a:spAutoFit/>
          </a:bodyPr>
          <a:lstStyle/>
          <a:p>
            <a:pPr marL="140335">
              <a:lnSpc>
                <a:spcPct val="100000"/>
              </a:lnSpc>
              <a:spcBef>
                <a:spcPts val="100"/>
              </a:spcBef>
            </a:pPr>
            <a:r>
              <a:rPr lang="en-US" sz="2400" dirty="0"/>
              <a:t>Top </a:t>
            </a:r>
            <a:r>
              <a:rPr sz="2400" dirty="0"/>
              <a:t>5</a:t>
            </a:r>
            <a:r>
              <a:rPr sz="2400" spc="-40" dirty="0"/>
              <a:t> </a:t>
            </a:r>
            <a:r>
              <a:rPr sz="2400" dirty="0"/>
              <a:t>countries</a:t>
            </a:r>
            <a:r>
              <a:rPr sz="2400" spc="-5" dirty="0"/>
              <a:t> </a:t>
            </a:r>
            <a:r>
              <a:rPr sz="2400" dirty="0"/>
              <a:t>by</a:t>
            </a:r>
            <a:r>
              <a:rPr sz="2400" spc="-60" dirty="0"/>
              <a:t> </a:t>
            </a:r>
            <a:r>
              <a:rPr sz="2400" dirty="0"/>
              <a:t>GDP</a:t>
            </a:r>
            <a:r>
              <a:rPr sz="2400" spc="-15" dirty="0"/>
              <a:t> </a:t>
            </a:r>
            <a:r>
              <a:rPr sz="2400" dirty="0"/>
              <a:t>in</a:t>
            </a:r>
            <a:r>
              <a:rPr sz="2400" spc="-30" dirty="0"/>
              <a:t> </a:t>
            </a:r>
            <a:r>
              <a:rPr sz="2400" dirty="0"/>
              <a:t>the</a:t>
            </a:r>
            <a:r>
              <a:rPr sz="2400" spc="-55" dirty="0"/>
              <a:t> </a:t>
            </a:r>
            <a:r>
              <a:rPr sz="2400" dirty="0"/>
              <a:t>most</a:t>
            </a:r>
            <a:r>
              <a:rPr sz="2400" spc="-40" dirty="0"/>
              <a:t> </a:t>
            </a:r>
            <a:r>
              <a:rPr sz="2400" dirty="0"/>
              <a:t>recent</a:t>
            </a:r>
            <a:r>
              <a:rPr sz="2400" spc="-40" dirty="0"/>
              <a:t> </a:t>
            </a:r>
            <a:r>
              <a:rPr sz="2400" spc="-10" dirty="0"/>
              <a:t>year</a:t>
            </a:r>
            <a:endParaRPr sz="2400" dirty="0"/>
          </a:p>
        </p:txBody>
      </p:sp>
      <p:sp>
        <p:nvSpPr>
          <p:cNvPr id="5" name="object 5"/>
          <p:cNvSpPr txBox="1"/>
          <p:nvPr/>
        </p:nvSpPr>
        <p:spPr>
          <a:xfrm>
            <a:off x="951230" y="3282632"/>
            <a:ext cx="9030970" cy="391795"/>
          </a:xfrm>
          <a:prstGeom prst="rect">
            <a:avLst/>
          </a:prstGeom>
        </p:spPr>
        <p:txBody>
          <a:bodyPr vert="horz" wrap="square" lIns="0" tIns="12700" rIns="0" bIns="0" rtlCol="0">
            <a:spAutoFit/>
          </a:bodyPr>
          <a:lstStyle/>
          <a:p>
            <a:pPr marL="12700">
              <a:lnSpc>
                <a:spcPct val="100000"/>
              </a:lnSpc>
              <a:spcBef>
                <a:spcPts val="100"/>
              </a:spcBef>
            </a:pPr>
            <a:r>
              <a:rPr lang="en-US" sz="2400" b="1" i="1" dirty="0">
                <a:latin typeface="Times New Roman"/>
                <a:cs typeface="Times New Roman"/>
              </a:rPr>
              <a:t>E</a:t>
            </a:r>
            <a:r>
              <a:rPr sz="2400" b="1" i="1" dirty="0">
                <a:latin typeface="Times New Roman"/>
                <a:cs typeface="Times New Roman"/>
              </a:rPr>
              <a:t>nergy</a:t>
            </a:r>
            <a:r>
              <a:rPr sz="2400" b="1" i="1" spc="-50" dirty="0">
                <a:latin typeface="Times New Roman"/>
                <a:cs typeface="Times New Roman"/>
              </a:rPr>
              <a:t> </a:t>
            </a:r>
            <a:r>
              <a:rPr sz="2400" b="1" i="1" dirty="0">
                <a:latin typeface="Times New Roman"/>
                <a:cs typeface="Times New Roman"/>
              </a:rPr>
              <a:t>types</a:t>
            </a:r>
            <a:r>
              <a:rPr sz="2400" b="1" i="1" spc="-60" dirty="0">
                <a:latin typeface="Times New Roman"/>
                <a:cs typeface="Times New Roman"/>
              </a:rPr>
              <a:t> </a:t>
            </a:r>
            <a:r>
              <a:rPr lang="en-US" sz="2400" b="1" i="1" spc="-60" dirty="0">
                <a:latin typeface="Times New Roman"/>
                <a:cs typeface="Times New Roman"/>
              </a:rPr>
              <a:t>that </a:t>
            </a:r>
            <a:r>
              <a:rPr sz="2400" b="1" i="1" dirty="0">
                <a:latin typeface="Times New Roman"/>
                <a:cs typeface="Times New Roman"/>
              </a:rPr>
              <a:t>contribute</a:t>
            </a:r>
            <a:r>
              <a:rPr lang="en-US" sz="2400" b="1" i="1" dirty="0">
                <a:latin typeface="Times New Roman"/>
                <a:cs typeface="Times New Roman"/>
              </a:rPr>
              <a:t>d</a:t>
            </a:r>
            <a:r>
              <a:rPr sz="2400" b="1" i="1" spc="-40" dirty="0">
                <a:latin typeface="Times New Roman"/>
                <a:cs typeface="Times New Roman"/>
              </a:rPr>
              <a:t> </a:t>
            </a:r>
            <a:r>
              <a:rPr sz="2400" b="1" i="1" dirty="0">
                <a:latin typeface="Times New Roman"/>
                <a:cs typeface="Times New Roman"/>
              </a:rPr>
              <a:t>most</a:t>
            </a:r>
            <a:r>
              <a:rPr sz="2400" b="1" i="1" spc="-30" dirty="0">
                <a:latin typeface="Times New Roman"/>
                <a:cs typeface="Times New Roman"/>
              </a:rPr>
              <a:t> </a:t>
            </a:r>
            <a:r>
              <a:rPr sz="2400" b="1" i="1" dirty="0">
                <a:latin typeface="Times New Roman"/>
                <a:cs typeface="Times New Roman"/>
              </a:rPr>
              <a:t>to</a:t>
            </a:r>
            <a:r>
              <a:rPr sz="2400" b="1" i="1" spc="-30" dirty="0">
                <a:latin typeface="Times New Roman"/>
                <a:cs typeface="Times New Roman"/>
              </a:rPr>
              <a:t> </a:t>
            </a:r>
            <a:r>
              <a:rPr sz="2400" b="1" i="1" dirty="0">
                <a:latin typeface="Times New Roman"/>
                <a:cs typeface="Times New Roman"/>
              </a:rPr>
              <a:t>emissions</a:t>
            </a:r>
            <a:r>
              <a:rPr sz="2400" b="1" i="1" spc="-60" dirty="0">
                <a:latin typeface="Times New Roman"/>
                <a:cs typeface="Times New Roman"/>
              </a:rPr>
              <a:t> </a:t>
            </a:r>
            <a:r>
              <a:rPr sz="2400" b="1" i="1" dirty="0">
                <a:latin typeface="Times New Roman"/>
                <a:cs typeface="Times New Roman"/>
              </a:rPr>
              <a:t>across</a:t>
            </a:r>
            <a:r>
              <a:rPr sz="2400" b="1" i="1" spc="-65" dirty="0">
                <a:latin typeface="Times New Roman"/>
                <a:cs typeface="Times New Roman"/>
              </a:rPr>
              <a:t> </a:t>
            </a:r>
            <a:r>
              <a:rPr sz="2400" b="1" i="1" dirty="0">
                <a:latin typeface="Times New Roman"/>
                <a:cs typeface="Times New Roman"/>
              </a:rPr>
              <a:t>all</a:t>
            </a:r>
            <a:r>
              <a:rPr sz="2400" b="1" i="1" spc="-15" dirty="0">
                <a:latin typeface="Times New Roman"/>
                <a:cs typeface="Times New Roman"/>
              </a:rPr>
              <a:t> </a:t>
            </a:r>
            <a:r>
              <a:rPr sz="2400" b="1" i="1" spc="-10" dirty="0">
                <a:latin typeface="Times New Roman"/>
                <a:cs typeface="Times New Roman"/>
              </a:rPr>
              <a:t>countries</a:t>
            </a:r>
            <a:endParaRPr sz="2400" dirty="0">
              <a:latin typeface="Times New Roman"/>
              <a:cs typeface="Times New Roman"/>
            </a:endParaRPr>
          </a:p>
        </p:txBody>
      </p:sp>
      <p:pic>
        <p:nvPicPr>
          <p:cNvPr id="9" name="Picture 8">
            <a:extLst>
              <a:ext uri="{FF2B5EF4-FFF2-40B4-BE49-F238E27FC236}">
                <a16:creationId xmlns:a16="http://schemas.microsoft.com/office/drawing/2014/main" id="{24AA0C53-AA44-8A2C-F765-38AED1A03B59}"/>
              </a:ext>
            </a:extLst>
          </p:cNvPr>
          <p:cNvPicPr>
            <a:picLocks noChangeAspect="1"/>
          </p:cNvPicPr>
          <p:nvPr/>
        </p:nvPicPr>
        <p:blipFill>
          <a:blip r:embed="rId2"/>
          <a:stretch>
            <a:fillRect/>
          </a:stretch>
        </p:blipFill>
        <p:spPr>
          <a:xfrm>
            <a:off x="714375" y="1180956"/>
            <a:ext cx="5144218" cy="1028844"/>
          </a:xfrm>
          <a:prstGeom prst="rect">
            <a:avLst/>
          </a:prstGeom>
        </p:spPr>
      </p:pic>
      <p:pic>
        <p:nvPicPr>
          <p:cNvPr id="11" name="Picture 10">
            <a:extLst>
              <a:ext uri="{FF2B5EF4-FFF2-40B4-BE49-F238E27FC236}">
                <a16:creationId xmlns:a16="http://schemas.microsoft.com/office/drawing/2014/main" id="{0EC896AC-F941-4DDA-0374-7DA30CB515C9}"/>
              </a:ext>
            </a:extLst>
          </p:cNvPr>
          <p:cNvPicPr>
            <a:picLocks noChangeAspect="1"/>
          </p:cNvPicPr>
          <p:nvPr/>
        </p:nvPicPr>
        <p:blipFill>
          <a:blip r:embed="rId3"/>
          <a:stretch>
            <a:fillRect/>
          </a:stretch>
        </p:blipFill>
        <p:spPr>
          <a:xfrm>
            <a:off x="6105427" y="891639"/>
            <a:ext cx="2673304" cy="1927761"/>
          </a:xfrm>
          <a:prstGeom prst="rect">
            <a:avLst/>
          </a:prstGeom>
        </p:spPr>
      </p:pic>
      <p:pic>
        <p:nvPicPr>
          <p:cNvPr id="15" name="Picture 14">
            <a:extLst>
              <a:ext uri="{FF2B5EF4-FFF2-40B4-BE49-F238E27FC236}">
                <a16:creationId xmlns:a16="http://schemas.microsoft.com/office/drawing/2014/main" id="{931B6FC2-47DB-590F-9F07-8004353979CA}"/>
              </a:ext>
            </a:extLst>
          </p:cNvPr>
          <p:cNvPicPr>
            <a:picLocks noChangeAspect="1"/>
          </p:cNvPicPr>
          <p:nvPr/>
        </p:nvPicPr>
        <p:blipFill>
          <a:blip r:embed="rId4"/>
          <a:stretch>
            <a:fillRect/>
          </a:stretch>
        </p:blipFill>
        <p:spPr>
          <a:xfrm>
            <a:off x="914400" y="4094670"/>
            <a:ext cx="4515480" cy="1057423"/>
          </a:xfrm>
          <a:prstGeom prst="rect">
            <a:avLst/>
          </a:prstGeom>
        </p:spPr>
      </p:pic>
      <p:pic>
        <p:nvPicPr>
          <p:cNvPr id="17" name="Picture 16">
            <a:extLst>
              <a:ext uri="{FF2B5EF4-FFF2-40B4-BE49-F238E27FC236}">
                <a16:creationId xmlns:a16="http://schemas.microsoft.com/office/drawing/2014/main" id="{1FC8CFA9-8C76-E257-4E70-055994B03027}"/>
              </a:ext>
            </a:extLst>
          </p:cNvPr>
          <p:cNvPicPr>
            <a:picLocks noChangeAspect="1"/>
          </p:cNvPicPr>
          <p:nvPr/>
        </p:nvPicPr>
        <p:blipFill>
          <a:blip r:embed="rId5"/>
          <a:stretch>
            <a:fillRect/>
          </a:stretch>
        </p:blipFill>
        <p:spPr>
          <a:xfrm>
            <a:off x="6095298" y="3972355"/>
            <a:ext cx="5029902" cy="15242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7643" y="403770"/>
            <a:ext cx="10689272" cy="382156"/>
          </a:xfrm>
          <a:prstGeom prst="rect">
            <a:avLst/>
          </a:prstGeom>
        </p:spPr>
        <p:txBody>
          <a:bodyPr vert="horz" wrap="square" lIns="0" tIns="12700" rIns="0" bIns="0" rtlCol="0">
            <a:spAutoFit/>
          </a:bodyPr>
          <a:lstStyle/>
          <a:p>
            <a:pPr marL="233679">
              <a:lnSpc>
                <a:spcPct val="100000"/>
              </a:lnSpc>
              <a:spcBef>
                <a:spcPts val="100"/>
              </a:spcBef>
            </a:pPr>
            <a:r>
              <a:rPr lang="en-US" sz="2400" dirty="0"/>
              <a:t>Change in </a:t>
            </a:r>
            <a:r>
              <a:rPr sz="2400" dirty="0"/>
              <a:t>global</a:t>
            </a:r>
            <a:r>
              <a:rPr sz="2400" spc="-45" dirty="0"/>
              <a:t> </a:t>
            </a:r>
            <a:r>
              <a:rPr sz="2400" dirty="0"/>
              <a:t>emissions</a:t>
            </a:r>
            <a:r>
              <a:rPr sz="2400" spc="-15" dirty="0"/>
              <a:t> </a:t>
            </a:r>
            <a:r>
              <a:rPr sz="2400" dirty="0"/>
              <a:t>over</a:t>
            </a:r>
            <a:r>
              <a:rPr sz="2400" spc="-15" dirty="0"/>
              <a:t> </a:t>
            </a:r>
            <a:r>
              <a:rPr lang="en-US" sz="2400" spc="-10" dirty="0"/>
              <a:t>the years</a:t>
            </a:r>
            <a:endParaRPr sz="2400" dirty="0"/>
          </a:p>
        </p:txBody>
      </p:sp>
      <p:sp>
        <p:nvSpPr>
          <p:cNvPr id="5" name="object 5"/>
          <p:cNvSpPr txBox="1"/>
          <p:nvPr/>
        </p:nvSpPr>
        <p:spPr>
          <a:xfrm>
            <a:off x="708659" y="3007042"/>
            <a:ext cx="8431530" cy="391795"/>
          </a:xfrm>
          <a:prstGeom prst="rect">
            <a:avLst/>
          </a:prstGeom>
        </p:spPr>
        <p:txBody>
          <a:bodyPr vert="horz" wrap="square" lIns="0" tIns="12700" rIns="0" bIns="0" rtlCol="0">
            <a:spAutoFit/>
          </a:bodyPr>
          <a:lstStyle/>
          <a:p>
            <a:pPr marL="12700">
              <a:lnSpc>
                <a:spcPct val="100000"/>
              </a:lnSpc>
              <a:spcBef>
                <a:spcPts val="100"/>
              </a:spcBef>
            </a:pPr>
            <a:r>
              <a:rPr lang="en-US" sz="2400" b="1" i="1" dirty="0">
                <a:latin typeface="Times New Roman"/>
                <a:cs typeface="Times New Roman"/>
              </a:rPr>
              <a:t>T</a:t>
            </a:r>
            <a:r>
              <a:rPr sz="2400" b="1" i="1" dirty="0">
                <a:latin typeface="Times New Roman"/>
                <a:cs typeface="Times New Roman"/>
              </a:rPr>
              <a:t>rend</a:t>
            </a:r>
            <a:r>
              <a:rPr sz="2400" b="1" i="1" spc="-30" dirty="0">
                <a:latin typeface="Times New Roman"/>
                <a:cs typeface="Times New Roman"/>
              </a:rPr>
              <a:t> </a:t>
            </a:r>
            <a:r>
              <a:rPr sz="2400" b="1" i="1" dirty="0">
                <a:latin typeface="Times New Roman"/>
                <a:cs typeface="Times New Roman"/>
              </a:rPr>
              <a:t>in</a:t>
            </a:r>
            <a:r>
              <a:rPr sz="2400" b="1" i="1" spc="-20" dirty="0">
                <a:latin typeface="Times New Roman"/>
                <a:cs typeface="Times New Roman"/>
              </a:rPr>
              <a:t> </a:t>
            </a:r>
            <a:r>
              <a:rPr sz="2400" b="1" i="1" dirty="0">
                <a:latin typeface="Times New Roman"/>
                <a:cs typeface="Times New Roman"/>
              </a:rPr>
              <a:t>GDP</a:t>
            </a:r>
            <a:r>
              <a:rPr sz="2400" b="1" i="1" spc="-5" dirty="0">
                <a:latin typeface="Times New Roman"/>
                <a:cs typeface="Times New Roman"/>
              </a:rPr>
              <a:t> </a:t>
            </a:r>
            <a:r>
              <a:rPr sz="2400" b="1" i="1" dirty="0">
                <a:latin typeface="Times New Roman"/>
                <a:cs typeface="Times New Roman"/>
              </a:rPr>
              <a:t>for</a:t>
            </a:r>
            <a:r>
              <a:rPr sz="2400" b="1" i="1" spc="-70" dirty="0">
                <a:latin typeface="Times New Roman"/>
                <a:cs typeface="Times New Roman"/>
              </a:rPr>
              <a:t> </a:t>
            </a:r>
            <a:r>
              <a:rPr sz="2400" b="1" i="1" dirty="0">
                <a:latin typeface="Times New Roman"/>
                <a:cs typeface="Times New Roman"/>
              </a:rPr>
              <a:t>each</a:t>
            </a:r>
            <a:r>
              <a:rPr sz="2400" b="1" i="1" spc="-20" dirty="0">
                <a:latin typeface="Times New Roman"/>
                <a:cs typeface="Times New Roman"/>
              </a:rPr>
              <a:t> </a:t>
            </a:r>
            <a:r>
              <a:rPr sz="2400" b="1" i="1" dirty="0">
                <a:latin typeface="Times New Roman"/>
                <a:cs typeface="Times New Roman"/>
              </a:rPr>
              <a:t>country</a:t>
            </a:r>
            <a:r>
              <a:rPr sz="2400" b="1" i="1" spc="20" dirty="0">
                <a:latin typeface="Times New Roman"/>
                <a:cs typeface="Times New Roman"/>
              </a:rPr>
              <a:t> </a:t>
            </a:r>
            <a:r>
              <a:rPr sz="2400" b="1" i="1" dirty="0">
                <a:latin typeface="Times New Roman"/>
                <a:cs typeface="Times New Roman"/>
              </a:rPr>
              <a:t>over</a:t>
            </a:r>
            <a:r>
              <a:rPr sz="2400" b="1" i="1" spc="-65" dirty="0">
                <a:latin typeface="Times New Roman"/>
                <a:cs typeface="Times New Roman"/>
              </a:rPr>
              <a:t> </a:t>
            </a:r>
            <a:r>
              <a:rPr sz="2400" b="1" i="1" dirty="0">
                <a:latin typeface="Times New Roman"/>
                <a:cs typeface="Times New Roman"/>
              </a:rPr>
              <a:t>the</a:t>
            </a:r>
            <a:r>
              <a:rPr sz="2400" b="1" i="1" spc="-50" dirty="0">
                <a:latin typeface="Times New Roman"/>
                <a:cs typeface="Times New Roman"/>
              </a:rPr>
              <a:t> </a:t>
            </a:r>
            <a:r>
              <a:rPr sz="2400" b="1" i="1" dirty="0">
                <a:latin typeface="Times New Roman"/>
                <a:cs typeface="Times New Roman"/>
              </a:rPr>
              <a:t>given</a:t>
            </a:r>
            <a:r>
              <a:rPr sz="2400" b="1" i="1" spc="-20" dirty="0">
                <a:latin typeface="Times New Roman"/>
                <a:cs typeface="Times New Roman"/>
              </a:rPr>
              <a:t> </a:t>
            </a:r>
            <a:r>
              <a:rPr sz="2400" b="1" i="1" spc="-10" dirty="0">
                <a:latin typeface="Times New Roman"/>
                <a:cs typeface="Times New Roman"/>
              </a:rPr>
              <a:t>years</a:t>
            </a:r>
            <a:endParaRPr sz="2400" dirty="0">
              <a:latin typeface="Times New Roman"/>
              <a:cs typeface="Times New Roman"/>
            </a:endParaRPr>
          </a:p>
        </p:txBody>
      </p:sp>
      <p:pic>
        <p:nvPicPr>
          <p:cNvPr id="9" name="Picture 8">
            <a:extLst>
              <a:ext uri="{FF2B5EF4-FFF2-40B4-BE49-F238E27FC236}">
                <a16:creationId xmlns:a16="http://schemas.microsoft.com/office/drawing/2014/main" id="{1C141361-AB29-4D94-0FE9-077EBA26DB1D}"/>
              </a:ext>
            </a:extLst>
          </p:cNvPr>
          <p:cNvPicPr>
            <a:picLocks noChangeAspect="1"/>
          </p:cNvPicPr>
          <p:nvPr/>
        </p:nvPicPr>
        <p:blipFill>
          <a:blip r:embed="rId2"/>
          <a:stretch>
            <a:fillRect/>
          </a:stretch>
        </p:blipFill>
        <p:spPr>
          <a:xfrm>
            <a:off x="1371600" y="4024629"/>
            <a:ext cx="3715268" cy="838317"/>
          </a:xfrm>
          <a:prstGeom prst="rect">
            <a:avLst/>
          </a:prstGeom>
        </p:spPr>
      </p:pic>
      <p:pic>
        <p:nvPicPr>
          <p:cNvPr id="11" name="Picture 10">
            <a:extLst>
              <a:ext uri="{FF2B5EF4-FFF2-40B4-BE49-F238E27FC236}">
                <a16:creationId xmlns:a16="http://schemas.microsoft.com/office/drawing/2014/main" id="{D1108AD0-0C6F-4E08-CE0B-72BDA2BD46A8}"/>
              </a:ext>
            </a:extLst>
          </p:cNvPr>
          <p:cNvPicPr>
            <a:picLocks noChangeAspect="1"/>
          </p:cNvPicPr>
          <p:nvPr/>
        </p:nvPicPr>
        <p:blipFill>
          <a:blip r:embed="rId3"/>
          <a:stretch>
            <a:fillRect/>
          </a:stretch>
        </p:blipFill>
        <p:spPr>
          <a:xfrm>
            <a:off x="6285731" y="3676918"/>
            <a:ext cx="2829320" cy="2372056"/>
          </a:xfrm>
          <a:prstGeom prst="rect">
            <a:avLst/>
          </a:prstGeom>
        </p:spPr>
      </p:pic>
      <p:pic>
        <p:nvPicPr>
          <p:cNvPr id="15" name="Picture 14">
            <a:extLst>
              <a:ext uri="{FF2B5EF4-FFF2-40B4-BE49-F238E27FC236}">
                <a16:creationId xmlns:a16="http://schemas.microsoft.com/office/drawing/2014/main" id="{93792594-4AED-6967-C3EF-A11786A72C76}"/>
              </a:ext>
            </a:extLst>
          </p:cNvPr>
          <p:cNvPicPr>
            <a:picLocks noChangeAspect="1"/>
          </p:cNvPicPr>
          <p:nvPr/>
        </p:nvPicPr>
        <p:blipFill>
          <a:blip r:embed="rId4"/>
          <a:stretch>
            <a:fillRect/>
          </a:stretch>
        </p:blipFill>
        <p:spPr>
          <a:xfrm>
            <a:off x="933377" y="1295304"/>
            <a:ext cx="4848902" cy="685896"/>
          </a:xfrm>
          <a:prstGeom prst="rect">
            <a:avLst/>
          </a:prstGeom>
        </p:spPr>
      </p:pic>
      <p:pic>
        <p:nvPicPr>
          <p:cNvPr id="17" name="Picture 16">
            <a:extLst>
              <a:ext uri="{FF2B5EF4-FFF2-40B4-BE49-F238E27FC236}">
                <a16:creationId xmlns:a16="http://schemas.microsoft.com/office/drawing/2014/main" id="{8FC293C3-1483-611F-A524-1FE4FA8A069D}"/>
              </a:ext>
            </a:extLst>
          </p:cNvPr>
          <p:cNvPicPr>
            <a:picLocks noChangeAspect="1"/>
          </p:cNvPicPr>
          <p:nvPr/>
        </p:nvPicPr>
        <p:blipFill>
          <a:blip r:embed="rId5"/>
          <a:stretch>
            <a:fillRect/>
          </a:stretch>
        </p:blipFill>
        <p:spPr>
          <a:xfrm>
            <a:off x="6248400" y="921231"/>
            <a:ext cx="3314972" cy="18219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542" y="353349"/>
            <a:ext cx="10689272" cy="561051"/>
          </a:xfrm>
          <a:prstGeom prst="rect">
            <a:avLst/>
          </a:prstGeom>
        </p:spPr>
        <p:txBody>
          <a:bodyPr vert="horz" wrap="square" lIns="0" tIns="189865" rIns="0" bIns="0" rtlCol="0">
            <a:spAutoFit/>
          </a:bodyPr>
          <a:lstStyle/>
          <a:p>
            <a:pPr marL="366395">
              <a:lnSpc>
                <a:spcPct val="100000"/>
              </a:lnSpc>
              <a:spcBef>
                <a:spcPts val="100"/>
              </a:spcBef>
            </a:pPr>
            <a:r>
              <a:rPr lang="en-US" sz="2400" dirty="0"/>
              <a:t>Change in</a:t>
            </a:r>
            <a:r>
              <a:rPr sz="2400" spc="-25" dirty="0"/>
              <a:t> </a:t>
            </a:r>
            <a:r>
              <a:rPr sz="2400" dirty="0"/>
              <a:t>total</a:t>
            </a:r>
            <a:r>
              <a:rPr sz="2400" spc="-15" dirty="0"/>
              <a:t> </a:t>
            </a:r>
            <a:r>
              <a:rPr sz="2400" dirty="0"/>
              <a:t>emissions</a:t>
            </a:r>
            <a:r>
              <a:rPr sz="2400" spc="-60" dirty="0"/>
              <a:t> </a:t>
            </a:r>
            <a:r>
              <a:rPr sz="2400" dirty="0"/>
              <a:t>in</a:t>
            </a:r>
            <a:r>
              <a:rPr sz="2400" spc="-10" dirty="0"/>
              <a:t> </a:t>
            </a:r>
            <a:r>
              <a:rPr sz="2400" dirty="0"/>
              <a:t>each</a:t>
            </a:r>
            <a:r>
              <a:rPr sz="2400" spc="-15" dirty="0"/>
              <a:t> </a:t>
            </a:r>
            <a:r>
              <a:rPr sz="2400" spc="-10" dirty="0"/>
              <a:t>country</a:t>
            </a:r>
            <a:r>
              <a:rPr lang="en-US" sz="2400" spc="-10" dirty="0"/>
              <a:t> by </a:t>
            </a:r>
            <a:r>
              <a:rPr lang="en-IN" sz="2400" dirty="0"/>
              <a:t>population</a:t>
            </a:r>
            <a:r>
              <a:rPr lang="en-IN" sz="2400" spc="-75" dirty="0"/>
              <a:t> </a:t>
            </a:r>
            <a:r>
              <a:rPr lang="en-IN" sz="2400" dirty="0"/>
              <a:t>growth</a:t>
            </a:r>
            <a:r>
              <a:rPr lang="en-IN" sz="2400" spc="-10" dirty="0"/>
              <a:t> </a:t>
            </a:r>
            <a:endParaRPr sz="2400" dirty="0"/>
          </a:p>
        </p:txBody>
      </p:sp>
      <p:sp>
        <p:nvSpPr>
          <p:cNvPr id="5" name="object 5"/>
          <p:cNvSpPr txBox="1"/>
          <p:nvPr/>
        </p:nvSpPr>
        <p:spPr>
          <a:xfrm>
            <a:off x="846137" y="3516312"/>
            <a:ext cx="9435465" cy="378630"/>
          </a:xfrm>
          <a:prstGeom prst="rect">
            <a:avLst/>
          </a:prstGeom>
        </p:spPr>
        <p:txBody>
          <a:bodyPr vert="horz" wrap="square" lIns="0" tIns="27305" rIns="0" bIns="0" rtlCol="0">
            <a:spAutoFit/>
          </a:bodyPr>
          <a:lstStyle/>
          <a:p>
            <a:pPr marL="12700" marR="5080">
              <a:lnSpc>
                <a:spcPts val="2860"/>
              </a:lnSpc>
              <a:spcBef>
                <a:spcPts val="215"/>
              </a:spcBef>
            </a:pPr>
            <a:r>
              <a:rPr lang="en-US" sz="2400" b="1" i="1" dirty="0">
                <a:latin typeface="Times New Roman"/>
                <a:cs typeface="Times New Roman"/>
              </a:rPr>
              <a:t>Change in </a:t>
            </a:r>
            <a:r>
              <a:rPr sz="2400" b="1" i="1" dirty="0">
                <a:latin typeface="Times New Roman"/>
                <a:cs typeface="Times New Roman"/>
              </a:rPr>
              <a:t>energy</a:t>
            </a:r>
            <a:r>
              <a:rPr sz="2400" b="1" i="1" spc="-70" dirty="0">
                <a:latin typeface="Times New Roman"/>
                <a:cs typeface="Times New Roman"/>
              </a:rPr>
              <a:t> </a:t>
            </a:r>
            <a:r>
              <a:rPr sz="2400" b="1" i="1" dirty="0">
                <a:latin typeface="Times New Roman"/>
                <a:cs typeface="Times New Roman"/>
              </a:rPr>
              <a:t>consumption</a:t>
            </a:r>
            <a:r>
              <a:rPr sz="2400" b="1" i="1" spc="-35" dirty="0">
                <a:latin typeface="Times New Roman"/>
                <a:cs typeface="Times New Roman"/>
              </a:rPr>
              <a:t> </a:t>
            </a:r>
            <a:r>
              <a:rPr sz="2400" b="1" i="1" dirty="0">
                <a:latin typeface="Times New Roman"/>
                <a:cs typeface="Times New Roman"/>
              </a:rPr>
              <a:t>over</a:t>
            </a:r>
            <a:r>
              <a:rPr sz="2400" b="1" i="1" spc="-15" dirty="0">
                <a:latin typeface="Times New Roman"/>
                <a:cs typeface="Times New Roman"/>
              </a:rPr>
              <a:t> </a:t>
            </a:r>
            <a:r>
              <a:rPr sz="2400" b="1" i="1" dirty="0">
                <a:latin typeface="Times New Roman"/>
                <a:cs typeface="Times New Roman"/>
              </a:rPr>
              <a:t>the years</a:t>
            </a:r>
            <a:r>
              <a:rPr sz="2400" b="1" i="1" spc="-20" dirty="0">
                <a:latin typeface="Times New Roman"/>
                <a:cs typeface="Times New Roman"/>
              </a:rPr>
              <a:t> </a:t>
            </a:r>
            <a:r>
              <a:rPr sz="2400" b="1" i="1" dirty="0">
                <a:latin typeface="Times New Roman"/>
                <a:cs typeface="Times New Roman"/>
              </a:rPr>
              <a:t>for</a:t>
            </a:r>
            <a:r>
              <a:rPr sz="2400" b="1" i="1" spc="-85" dirty="0">
                <a:latin typeface="Times New Roman"/>
                <a:cs typeface="Times New Roman"/>
              </a:rPr>
              <a:t> </a:t>
            </a:r>
            <a:r>
              <a:rPr sz="2400" b="1" i="1" spc="-10" dirty="0">
                <a:latin typeface="Times New Roman"/>
                <a:cs typeface="Times New Roman"/>
              </a:rPr>
              <a:t>major economies</a:t>
            </a:r>
            <a:endParaRPr lang="en-US" sz="2400" b="1" i="1" spc="-10" dirty="0">
              <a:latin typeface="Times New Roman"/>
              <a:cs typeface="Times New Roman"/>
            </a:endParaRPr>
          </a:p>
        </p:txBody>
      </p:sp>
      <p:pic>
        <p:nvPicPr>
          <p:cNvPr id="13" name="Picture 12">
            <a:extLst>
              <a:ext uri="{FF2B5EF4-FFF2-40B4-BE49-F238E27FC236}">
                <a16:creationId xmlns:a16="http://schemas.microsoft.com/office/drawing/2014/main" id="{AC523386-F7AF-D092-9A55-1C6B1D53A187}"/>
              </a:ext>
            </a:extLst>
          </p:cNvPr>
          <p:cNvPicPr>
            <a:picLocks noChangeAspect="1"/>
          </p:cNvPicPr>
          <p:nvPr/>
        </p:nvPicPr>
        <p:blipFill>
          <a:blip r:embed="rId2"/>
          <a:stretch>
            <a:fillRect/>
          </a:stretch>
        </p:blipFill>
        <p:spPr>
          <a:xfrm>
            <a:off x="990600" y="4417036"/>
            <a:ext cx="5486400" cy="1810003"/>
          </a:xfrm>
          <a:prstGeom prst="rect">
            <a:avLst/>
          </a:prstGeom>
        </p:spPr>
      </p:pic>
      <p:pic>
        <p:nvPicPr>
          <p:cNvPr id="15" name="Picture 14">
            <a:extLst>
              <a:ext uri="{FF2B5EF4-FFF2-40B4-BE49-F238E27FC236}">
                <a16:creationId xmlns:a16="http://schemas.microsoft.com/office/drawing/2014/main" id="{513B6A15-C540-CC69-05CF-1D3B12731A8C}"/>
              </a:ext>
            </a:extLst>
          </p:cNvPr>
          <p:cNvPicPr>
            <a:picLocks noChangeAspect="1"/>
          </p:cNvPicPr>
          <p:nvPr/>
        </p:nvPicPr>
        <p:blipFill>
          <a:blip r:embed="rId3"/>
          <a:stretch>
            <a:fillRect/>
          </a:stretch>
        </p:blipFill>
        <p:spPr>
          <a:xfrm>
            <a:off x="6553200" y="4038600"/>
            <a:ext cx="4038600" cy="2102939"/>
          </a:xfrm>
          <a:prstGeom prst="rect">
            <a:avLst/>
          </a:prstGeom>
        </p:spPr>
      </p:pic>
      <p:pic>
        <p:nvPicPr>
          <p:cNvPr id="4" name="Picture 3">
            <a:extLst>
              <a:ext uri="{FF2B5EF4-FFF2-40B4-BE49-F238E27FC236}">
                <a16:creationId xmlns:a16="http://schemas.microsoft.com/office/drawing/2014/main" id="{E990A0EA-E4C1-942E-6E6E-FA515E453119}"/>
              </a:ext>
            </a:extLst>
          </p:cNvPr>
          <p:cNvPicPr>
            <a:picLocks noChangeAspect="1"/>
          </p:cNvPicPr>
          <p:nvPr/>
        </p:nvPicPr>
        <p:blipFill>
          <a:blip r:embed="rId4"/>
          <a:stretch>
            <a:fillRect/>
          </a:stretch>
        </p:blipFill>
        <p:spPr>
          <a:xfrm>
            <a:off x="914400" y="1428545"/>
            <a:ext cx="5562600" cy="1467055"/>
          </a:xfrm>
          <a:prstGeom prst="rect">
            <a:avLst/>
          </a:prstGeom>
        </p:spPr>
      </p:pic>
      <p:pic>
        <p:nvPicPr>
          <p:cNvPr id="7" name="Picture 6">
            <a:extLst>
              <a:ext uri="{FF2B5EF4-FFF2-40B4-BE49-F238E27FC236}">
                <a16:creationId xmlns:a16="http://schemas.microsoft.com/office/drawing/2014/main" id="{756D7F51-0D25-23CF-E647-D80ED6A89B11}"/>
              </a:ext>
            </a:extLst>
          </p:cNvPr>
          <p:cNvPicPr>
            <a:picLocks noChangeAspect="1"/>
          </p:cNvPicPr>
          <p:nvPr/>
        </p:nvPicPr>
        <p:blipFill>
          <a:blip r:embed="rId5"/>
          <a:stretch>
            <a:fillRect/>
          </a:stretch>
        </p:blipFill>
        <p:spPr>
          <a:xfrm>
            <a:off x="6492711" y="1142723"/>
            <a:ext cx="5239481" cy="19814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1180" y="269811"/>
            <a:ext cx="9841230" cy="391795"/>
          </a:xfrm>
          <a:prstGeom prst="rect">
            <a:avLst/>
          </a:prstGeom>
        </p:spPr>
        <p:txBody>
          <a:bodyPr vert="horz" wrap="square" lIns="0" tIns="12700" rIns="0" bIns="0" rtlCol="0">
            <a:spAutoFit/>
          </a:bodyPr>
          <a:lstStyle/>
          <a:p>
            <a:pPr marL="12700">
              <a:lnSpc>
                <a:spcPct val="100000"/>
              </a:lnSpc>
              <a:spcBef>
                <a:spcPts val="100"/>
              </a:spcBef>
            </a:pPr>
            <a:r>
              <a:rPr lang="en-US" sz="2400" b="1" i="1" dirty="0">
                <a:latin typeface="Times New Roman"/>
                <a:cs typeface="Times New Roman"/>
              </a:rPr>
              <a:t>Average </a:t>
            </a:r>
            <a:r>
              <a:rPr sz="2400" b="1" i="1" dirty="0">
                <a:latin typeface="Times New Roman"/>
                <a:cs typeface="Times New Roman"/>
              </a:rPr>
              <a:t>yearly</a:t>
            </a:r>
            <a:r>
              <a:rPr sz="2400" b="1" i="1" spc="-35" dirty="0">
                <a:latin typeface="Times New Roman"/>
                <a:cs typeface="Times New Roman"/>
              </a:rPr>
              <a:t> </a:t>
            </a:r>
            <a:r>
              <a:rPr sz="2400" b="1" i="1" dirty="0">
                <a:latin typeface="Times New Roman"/>
                <a:cs typeface="Times New Roman"/>
              </a:rPr>
              <a:t>change</a:t>
            </a:r>
            <a:r>
              <a:rPr sz="2400" b="1" i="1" spc="-40" dirty="0">
                <a:latin typeface="Times New Roman"/>
                <a:cs typeface="Times New Roman"/>
              </a:rPr>
              <a:t> </a:t>
            </a:r>
            <a:r>
              <a:rPr sz="2400" b="1" i="1" dirty="0">
                <a:latin typeface="Times New Roman"/>
                <a:cs typeface="Times New Roman"/>
              </a:rPr>
              <a:t>in</a:t>
            </a:r>
            <a:r>
              <a:rPr sz="2400" b="1" i="1" spc="-10" dirty="0">
                <a:latin typeface="Times New Roman"/>
                <a:cs typeface="Times New Roman"/>
              </a:rPr>
              <a:t> </a:t>
            </a:r>
            <a:r>
              <a:rPr sz="2400" b="1" i="1" dirty="0">
                <a:latin typeface="Times New Roman"/>
                <a:cs typeface="Times New Roman"/>
              </a:rPr>
              <a:t>emissions</a:t>
            </a:r>
            <a:r>
              <a:rPr sz="2400" b="1" i="1" spc="15" dirty="0">
                <a:latin typeface="Times New Roman"/>
                <a:cs typeface="Times New Roman"/>
              </a:rPr>
              <a:t> </a:t>
            </a:r>
            <a:r>
              <a:rPr sz="2400" b="1" i="1" dirty="0">
                <a:latin typeface="Times New Roman"/>
                <a:cs typeface="Times New Roman"/>
              </a:rPr>
              <a:t>per</a:t>
            </a:r>
            <a:r>
              <a:rPr sz="2400" b="1" i="1" spc="-60" dirty="0">
                <a:latin typeface="Times New Roman"/>
                <a:cs typeface="Times New Roman"/>
              </a:rPr>
              <a:t> </a:t>
            </a:r>
            <a:r>
              <a:rPr sz="2400" b="1" i="1" dirty="0">
                <a:latin typeface="Times New Roman"/>
                <a:cs typeface="Times New Roman"/>
              </a:rPr>
              <a:t>capita</a:t>
            </a:r>
            <a:r>
              <a:rPr sz="2400" b="1" i="1" spc="-20" dirty="0">
                <a:latin typeface="Times New Roman"/>
                <a:cs typeface="Times New Roman"/>
              </a:rPr>
              <a:t> </a:t>
            </a:r>
            <a:r>
              <a:rPr sz="2400" b="1" i="1" dirty="0">
                <a:latin typeface="Times New Roman"/>
                <a:cs typeface="Times New Roman"/>
              </a:rPr>
              <a:t>for</a:t>
            </a:r>
            <a:r>
              <a:rPr sz="2400" b="1" i="1" spc="-65" dirty="0">
                <a:latin typeface="Times New Roman"/>
                <a:cs typeface="Times New Roman"/>
              </a:rPr>
              <a:t> </a:t>
            </a:r>
            <a:r>
              <a:rPr sz="2400" b="1" i="1" dirty="0">
                <a:latin typeface="Times New Roman"/>
                <a:cs typeface="Times New Roman"/>
              </a:rPr>
              <a:t>each</a:t>
            </a:r>
            <a:r>
              <a:rPr sz="2400" b="1" i="1" spc="-80" dirty="0">
                <a:latin typeface="Times New Roman"/>
                <a:cs typeface="Times New Roman"/>
              </a:rPr>
              <a:t> </a:t>
            </a:r>
            <a:r>
              <a:rPr sz="2400" b="1" i="1" spc="-10" dirty="0">
                <a:latin typeface="Times New Roman"/>
                <a:cs typeface="Times New Roman"/>
              </a:rPr>
              <a:t>country</a:t>
            </a:r>
            <a:endParaRPr sz="2400" dirty="0">
              <a:latin typeface="Times New Roman"/>
              <a:cs typeface="Times New Roman"/>
            </a:endParaRPr>
          </a:p>
        </p:txBody>
      </p:sp>
      <p:sp>
        <p:nvSpPr>
          <p:cNvPr id="5" name="object 5"/>
          <p:cNvSpPr txBox="1"/>
          <p:nvPr/>
        </p:nvSpPr>
        <p:spPr>
          <a:xfrm>
            <a:off x="551180" y="3112142"/>
            <a:ext cx="6306820" cy="364523"/>
          </a:xfrm>
          <a:prstGeom prst="rect">
            <a:avLst/>
          </a:prstGeom>
        </p:spPr>
        <p:txBody>
          <a:bodyPr vert="horz" wrap="square" lIns="0" tIns="13335" rIns="0" bIns="0" rtlCol="0">
            <a:spAutoFit/>
          </a:bodyPr>
          <a:lstStyle/>
          <a:p>
            <a:pPr marL="12700">
              <a:lnSpc>
                <a:spcPts val="2870"/>
              </a:lnSpc>
              <a:spcBef>
                <a:spcPts val="105"/>
              </a:spcBef>
            </a:pPr>
            <a:r>
              <a:rPr lang="en-US" sz="2400" b="1" i="1" dirty="0">
                <a:latin typeface="Times New Roman"/>
                <a:cs typeface="Times New Roman"/>
              </a:rPr>
              <a:t>E</a:t>
            </a:r>
            <a:r>
              <a:rPr sz="2400" b="1" i="1" dirty="0">
                <a:latin typeface="Times New Roman"/>
                <a:cs typeface="Times New Roman"/>
              </a:rPr>
              <a:t>mission-</a:t>
            </a:r>
            <a:r>
              <a:rPr sz="2400" b="1" i="1" spc="-10" dirty="0">
                <a:latin typeface="Times New Roman"/>
                <a:cs typeface="Times New Roman"/>
              </a:rPr>
              <a:t>to-</a:t>
            </a:r>
            <a:r>
              <a:rPr sz="2400" b="1" i="1" dirty="0">
                <a:latin typeface="Times New Roman"/>
                <a:cs typeface="Times New Roman"/>
              </a:rPr>
              <a:t>GDP</a:t>
            </a:r>
            <a:r>
              <a:rPr sz="2400" b="1" i="1" spc="5" dirty="0">
                <a:latin typeface="Times New Roman"/>
                <a:cs typeface="Times New Roman"/>
              </a:rPr>
              <a:t> </a:t>
            </a:r>
            <a:r>
              <a:rPr sz="2400" b="1" i="1" dirty="0">
                <a:latin typeface="Times New Roman"/>
                <a:cs typeface="Times New Roman"/>
              </a:rPr>
              <a:t>ratio</a:t>
            </a:r>
            <a:r>
              <a:rPr sz="2400" b="1" i="1" spc="-25" dirty="0">
                <a:latin typeface="Times New Roman"/>
                <a:cs typeface="Times New Roman"/>
              </a:rPr>
              <a:t> </a:t>
            </a:r>
            <a:r>
              <a:rPr sz="2400" b="1" i="1" dirty="0">
                <a:latin typeface="Times New Roman"/>
                <a:cs typeface="Times New Roman"/>
              </a:rPr>
              <a:t>for</a:t>
            </a:r>
            <a:r>
              <a:rPr sz="2400" b="1" i="1" spc="-65" dirty="0">
                <a:latin typeface="Times New Roman"/>
                <a:cs typeface="Times New Roman"/>
              </a:rPr>
              <a:t> </a:t>
            </a:r>
            <a:r>
              <a:rPr sz="2400" b="1" i="1" dirty="0">
                <a:latin typeface="Times New Roman"/>
                <a:cs typeface="Times New Roman"/>
              </a:rPr>
              <a:t>each</a:t>
            </a:r>
            <a:r>
              <a:rPr sz="2400" b="1" i="1" spc="-90" dirty="0">
                <a:latin typeface="Times New Roman"/>
                <a:cs typeface="Times New Roman"/>
              </a:rPr>
              <a:t> </a:t>
            </a:r>
            <a:r>
              <a:rPr sz="2400" b="1" i="1" spc="-10" dirty="0">
                <a:latin typeface="Times New Roman"/>
                <a:cs typeface="Times New Roman"/>
              </a:rPr>
              <a:t>country</a:t>
            </a:r>
            <a:r>
              <a:rPr lang="en-US" sz="2400" spc="-10" dirty="0">
                <a:latin typeface="Times New Roman"/>
                <a:cs typeface="Times New Roman"/>
              </a:rPr>
              <a:t> </a:t>
            </a:r>
            <a:r>
              <a:rPr sz="2400" b="1" i="1" dirty="0">
                <a:latin typeface="Times New Roman"/>
                <a:cs typeface="Times New Roman"/>
              </a:rPr>
              <a:t>by</a:t>
            </a:r>
            <a:r>
              <a:rPr sz="2400" b="1" i="1" spc="-20" dirty="0">
                <a:latin typeface="Times New Roman"/>
                <a:cs typeface="Times New Roman"/>
              </a:rPr>
              <a:t> </a:t>
            </a:r>
            <a:r>
              <a:rPr sz="2400" b="1" i="1" spc="-10" dirty="0">
                <a:latin typeface="Times New Roman"/>
                <a:cs typeface="Times New Roman"/>
              </a:rPr>
              <a:t>year</a:t>
            </a:r>
            <a:endParaRPr sz="2400" dirty="0">
              <a:latin typeface="Times New Roman"/>
              <a:cs typeface="Times New Roman"/>
            </a:endParaRPr>
          </a:p>
        </p:txBody>
      </p:sp>
      <p:pic>
        <p:nvPicPr>
          <p:cNvPr id="9" name="Picture 8">
            <a:extLst>
              <a:ext uri="{FF2B5EF4-FFF2-40B4-BE49-F238E27FC236}">
                <a16:creationId xmlns:a16="http://schemas.microsoft.com/office/drawing/2014/main" id="{240D2DDB-9DD6-B3C3-B985-C0D13DAE05C9}"/>
              </a:ext>
            </a:extLst>
          </p:cNvPr>
          <p:cNvPicPr>
            <a:picLocks noChangeAspect="1"/>
          </p:cNvPicPr>
          <p:nvPr/>
        </p:nvPicPr>
        <p:blipFill>
          <a:blip r:embed="rId2"/>
          <a:stretch>
            <a:fillRect/>
          </a:stretch>
        </p:blipFill>
        <p:spPr>
          <a:xfrm>
            <a:off x="809625" y="1295400"/>
            <a:ext cx="5439534" cy="743054"/>
          </a:xfrm>
          <a:prstGeom prst="rect">
            <a:avLst/>
          </a:prstGeom>
        </p:spPr>
      </p:pic>
      <p:pic>
        <p:nvPicPr>
          <p:cNvPr id="11" name="Picture 10">
            <a:extLst>
              <a:ext uri="{FF2B5EF4-FFF2-40B4-BE49-F238E27FC236}">
                <a16:creationId xmlns:a16="http://schemas.microsoft.com/office/drawing/2014/main" id="{9D232C93-C3D2-C496-0ED7-85AE4EE738C7}"/>
              </a:ext>
            </a:extLst>
          </p:cNvPr>
          <p:cNvPicPr>
            <a:picLocks noChangeAspect="1"/>
          </p:cNvPicPr>
          <p:nvPr/>
        </p:nvPicPr>
        <p:blipFill>
          <a:blip r:embed="rId3"/>
          <a:stretch>
            <a:fillRect/>
          </a:stretch>
        </p:blipFill>
        <p:spPr>
          <a:xfrm>
            <a:off x="6496050" y="732469"/>
            <a:ext cx="3705742" cy="2240599"/>
          </a:xfrm>
          <a:prstGeom prst="rect">
            <a:avLst/>
          </a:prstGeom>
        </p:spPr>
      </p:pic>
      <p:pic>
        <p:nvPicPr>
          <p:cNvPr id="15" name="Picture 14">
            <a:extLst>
              <a:ext uri="{FF2B5EF4-FFF2-40B4-BE49-F238E27FC236}">
                <a16:creationId xmlns:a16="http://schemas.microsoft.com/office/drawing/2014/main" id="{092D49B6-EFCC-F629-81A8-0581AE6B8C41}"/>
              </a:ext>
            </a:extLst>
          </p:cNvPr>
          <p:cNvPicPr>
            <a:picLocks noChangeAspect="1"/>
          </p:cNvPicPr>
          <p:nvPr/>
        </p:nvPicPr>
        <p:blipFill>
          <a:blip r:embed="rId4"/>
          <a:stretch>
            <a:fillRect/>
          </a:stretch>
        </p:blipFill>
        <p:spPr>
          <a:xfrm>
            <a:off x="752475" y="4038600"/>
            <a:ext cx="5496684" cy="1324160"/>
          </a:xfrm>
          <a:prstGeom prst="rect">
            <a:avLst/>
          </a:prstGeom>
        </p:spPr>
      </p:pic>
      <p:pic>
        <p:nvPicPr>
          <p:cNvPr id="17" name="Picture 16">
            <a:extLst>
              <a:ext uri="{FF2B5EF4-FFF2-40B4-BE49-F238E27FC236}">
                <a16:creationId xmlns:a16="http://schemas.microsoft.com/office/drawing/2014/main" id="{CF690985-373E-92EB-741C-3DD0310FB8E7}"/>
              </a:ext>
            </a:extLst>
          </p:cNvPr>
          <p:cNvPicPr>
            <a:picLocks noChangeAspect="1"/>
          </p:cNvPicPr>
          <p:nvPr/>
        </p:nvPicPr>
        <p:blipFill>
          <a:blip r:embed="rId5"/>
          <a:stretch>
            <a:fillRect/>
          </a:stretch>
        </p:blipFill>
        <p:spPr>
          <a:xfrm>
            <a:off x="6496050" y="3615740"/>
            <a:ext cx="3810532" cy="23148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92906"/>
            <a:ext cx="10689272" cy="433388"/>
          </a:xfrm>
          <a:prstGeom prst="rect">
            <a:avLst/>
          </a:prstGeom>
        </p:spPr>
        <p:txBody>
          <a:bodyPr vert="horz" wrap="square" lIns="0" tIns="81534" rIns="0" bIns="0" rtlCol="0">
            <a:spAutoFit/>
          </a:bodyPr>
          <a:lstStyle/>
          <a:p>
            <a:pPr marL="494665">
              <a:lnSpc>
                <a:spcPts val="2865"/>
              </a:lnSpc>
              <a:spcBef>
                <a:spcPts val="100"/>
              </a:spcBef>
            </a:pPr>
            <a:r>
              <a:rPr lang="en-US" sz="2400" dirty="0"/>
              <a:t>Top </a:t>
            </a:r>
            <a:r>
              <a:rPr sz="2400" dirty="0"/>
              <a:t>10</a:t>
            </a:r>
            <a:r>
              <a:rPr sz="2400" spc="-30" dirty="0"/>
              <a:t> </a:t>
            </a:r>
            <a:r>
              <a:rPr sz="2400" dirty="0"/>
              <a:t>countries</a:t>
            </a:r>
            <a:r>
              <a:rPr sz="2400" spc="-60" dirty="0"/>
              <a:t> </a:t>
            </a:r>
            <a:r>
              <a:rPr sz="2400" dirty="0"/>
              <a:t>by</a:t>
            </a:r>
            <a:r>
              <a:rPr sz="2400" spc="-45" dirty="0"/>
              <a:t> </a:t>
            </a:r>
            <a:r>
              <a:rPr sz="2400" dirty="0"/>
              <a:t>population</a:t>
            </a:r>
            <a:r>
              <a:rPr sz="2400" spc="-80" dirty="0"/>
              <a:t> </a:t>
            </a:r>
            <a:r>
              <a:rPr sz="2400" dirty="0"/>
              <a:t>and</a:t>
            </a:r>
            <a:r>
              <a:rPr sz="2400" spc="-25" dirty="0"/>
              <a:t> </a:t>
            </a:r>
            <a:r>
              <a:rPr sz="2400" dirty="0"/>
              <a:t>their</a:t>
            </a:r>
            <a:r>
              <a:rPr sz="2400" spc="-65" dirty="0"/>
              <a:t> </a:t>
            </a:r>
            <a:r>
              <a:rPr lang="en-US" sz="2400" spc="-65" dirty="0"/>
              <a:t>respective </a:t>
            </a:r>
            <a:r>
              <a:rPr sz="2400" dirty="0"/>
              <a:t>emissions</a:t>
            </a:r>
          </a:p>
        </p:txBody>
      </p:sp>
      <p:pic>
        <p:nvPicPr>
          <p:cNvPr id="8" name="Picture 7">
            <a:extLst>
              <a:ext uri="{FF2B5EF4-FFF2-40B4-BE49-F238E27FC236}">
                <a16:creationId xmlns:a16="http://schemas.microsoft.com/office/drawing/2014/main" id="{E323FD73-C7D7-ED73-2E2C-F2CA76A98D80}"/>
              </a:ext>
            </a:extLst>
          </p:cNvPr>
          <p:cNvPicPr>
            <a:picLocks noChangeAspect="1"/>
          </p:cNvPicPr>
          <p:nvPr/>
        </p:nvPicPr>
        <p:blipFill>
          <a:blip r:embed="rId3"/>
          <a:stretch>
            <a:fillRect/>
          </a:stretch>
        </p:blipFill>
        <p:spPr>
          <a:xfrm>
            <a:off x="961266" y="1143000"/>
            <a:ext cx="5134734" cy="1690596"/>
          </a:xfrm>
          <a:prstGeom prst="rect">
            <a:avLst/>
          </a:prstGeom>
        </p:spPr>
      </p:pic>
      <p:pic>
        <p:nvPicPr>
          <p:cNvPr id="10" name="Picture 9">
            <a:extLst>
              <a:ext uri="{FF2B5EF4-FFF2-40B4-BE49-F238E27FC236}">
                <a16:creationId xmlns:a16="http://schemas.microsoft.com/office/drawing/2014/main" id="{A318A3BD-BDDE-386F-8B61-372F0A0EDCA5}"/>
              </a:ext>
            </a:extLst>
          </p:cNvPr>
          <p:cNvPicPr>
            <a:picLocks noChangeAspect="1"/>
          </p:cNvPicPr>
          <p:nvPr/>
        </p:nvPicPr>
        <p:blipFill>
          <a:blip r:embed="rId4"/>
          <a:stretch>
            <a:fillRect/>
          </a:stretch>
        </p:blipFill>
        <p:spPr>
          <a:xfrm>
            <a:off x="6440487" y="940502"/>
            <a:ext cx="4553585" cy="2139379"/>
          </a:xfrm>
          <a:prstGeom prst="rect">
            <a:avLst/>
          </a:prstGeom>
        </p:spPr>
      </p:pic>
      <p:sp>
        <p:nvSpPr>
          <p:cNvPr id="3" name="object 2">
            <a:extLst>
              <a:ext uri="{FF2B5EF4-FFF2-40B4-BE49-F238E27FC236}">
                <a16:creationId xmlns:a16="http://schemas.microsoft.com/office/drawing/2014/main" id="{1963C46E-C7D2-EDB4-C8D6-0854D43053A2}"/>
              </a:ext>
            </a:extLst>
          </p:cNvPr>
          <p:cNvSpPr txBox="1">
            <a:spLocks/>
          </p:cNvSpPr>
          <p:nvPr/>
        </p:nvSpPr>
        <p:spPr>
          <a:xfrm>
            <a:off x="304800" y="3079881"/>
            <a:ext cx="10689272" cy="433388"/>
          </a:xfrm>
          <a:prstGeom prst="rect">
            <a:avLst/>
          </a:prstGeom>
        </p:spPr>
        <p:txBody>
          <a:bodyPr vert="horz" wrap="square" lIns="0" tIns="81534" rIns="0" bIns="0" rtlCol="0">
            <a:spAutoFit/>
          </a:bodyPr>
          <a:lstStyle>
            <a:lvl1pPr>
              <a:defRPr sz="3200" b="1" i="1">
                <a:solidFill>
                  <a:schemeClr val="tx1"/>
                </a:solidFill>
                <a:latin typeface="Times New Roman"/>
                <a:ea typeface="+mj-ea"/>
                <a:cs typeface="Times New Roman"/>
              </a:defRPr>
            </a:lvl1pPr>
          </a:lstStyle>
          <a:p>
            <a:pPr marL="494665">
              <a:lnSpc>
                <a:spcPts val="2865"/>
              </a:lnSpc>
              <a:spcBef>
                <a:spcPts val="100"/>
              </a:spcBef>
            </a:pPr>
            <a:r>
              <a:rPr lang="en-US" sz="2400" dirty="0"/>
              <a:t>Global share (%) of emissions by country</a:t>
            </a:r>
          </a:p>
        </p:txBody>
      </p:sp>
      <p:pic>
        <p:nvPicPr>
          <p:cNvPr id="5" name="Picture 4">
            <a:extLst>
              <a:ext uri="{FF2B5EF4-FFF2-40B4-BE49-F238E27FC236}">
                <a16:creationId xmlns:a16="http://schemas.microsoft.com/office/drawing/2014/main" id="{69DB4E90-1132-5E48-D0D0-72CF6A29C599}"/>
              </a:ext>
            </a:extLst>
          </p:cNvPr>
          <p:cNvPicPr>
            <a:picLocks noChangeAspect="1"/>
          </p:cNvPicPr>
          <p:nvPr/>
        </p:nvPicPr>
        <p:blipFill>
          <a:blip r:embed="rId5"/>
          <a:stretch>
            <a:fillRect/>
          </a:stretch>
        </p:blipFill>
        <p:spPr>
          <a:xfrm>
            <a:off x="838200" y="3810000"/>
            <a:ext cx="5257800" cy="1524213"/>
          </a:xfrm>
          <a:prstGeom prst="rect">
            <a:avLst/>
          </a:prstGeom>
        </p:spPr>
      </p:pic>
      <p:pic>
        <p:nvPicPr>
          <p:cNvPr id="7" name="Picture 6">
            <a:extLst>
              <a:ext uri="{FF2B5EF4-FFF2-40B4-BE49-F238E27FC236}">
                <a16:creationId xmlns:a16="http://schemas.microsoft.com/office/drawing/2014/main" id="{835E34B3-57C8-7E9E-889C-7B3F2385D26A}"/>
              </a:ext>
            </a:extLst>
          </p:cNvPr>
          <p:cNvPicPr>
            <a:picLocks noChangeAspect="1"/>
          </p:cNvPicPr>
          <p:nvPr/>
        </p:nvPicPr>
        <p:blipFill>
          <a:blip r:embed="rId6"/>
          <a:stretch>
            <a:fillRect/>
          </a:stretch>
        </p:blipFill>
        <p:spPr>
          <a:xfrm>
            <a:off x="6324600" y="3581400"/>
            <a:ext cx="3208957" cy="266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6633-5606-8D3E-C433-51E9AAAC99CA}"/>
              </a:ext>
            </a:extLst>
          </p:cNvPr>
          <p:cNvSpPr>
            <a:spLocks noGrp="1"/>
          </p:cNvSpPr>
          <p:nvPr>
            <p:ph type="title"/>
          </p:nvPr>
        </p:nvSpPr>
        <p:spPr>
          <a:xfrm>
            <a:off x="457200" y="457200"/>
            <a:ext cx="10689272" cy="369332"/>
          </a:xfrm>
        </p:spPr>
        <p:txBody>
          <a:bodyPr/>
          <a:lstStyle/>
          <a:p>
            <a:r>
              <a:rPr lang="en-US" sz="2400" dirty="0"/>
              <a:t>Global average GDP, Emission and Population by year</a:t>
            </a:r>
            <a:endParaRPr lang="en-IN" sz="2400" dirty="0"/>
          </a:p>
        </p:txBody>
      </p:sp>
      <p:pic>
        <p:nvPicPr>
          <p:cNvPr id="4" name="Picture 3">
            <a:extLst>
              <a:ext uri="{FF2B5EF4-FFF2-40B4-BE49-F238E27FC236}">
                <a16:creationId xmlns:a16="http://schemas.microsoft.com/office/drawing/2014/main" id="{3CBBB0DB-4CFF-6AD9-D80D-66ABBF1013FA}"/>
              </a:ext>
            </a:extLst>
          </p:cNvPr>
          <p:cNvPicPr>
            <a:picLocks noChangeAspect="1"/>
          </p:cNvPicPr>
          <p:nvPr/>
        </p:nvPicPr>
        <p:blipFill>
          <a:blip r:embed="rId2"/>
          <a:stretch>
            <a:fillRect/>
          </a:stretch>
        </p:blipFill>
        <p:spPr>
          <a:xfrm>
            <a:off x="762000" y="1278046"/>
            <a:ext cx="5867400" cy="1484357"/>
          </a:xfrm>
          <a:prstGeom prst="rect">
            <a:avLst/>
          </a:prstGeom>
        </p:spPr>
      </p:pic>
      <p:pic>
        <p:nvPicPr>
          <p:cNvPr id="6" name="Picture 5">
            <a:extLst>
              <a:ext uri="{FF2B5EF4-FFF2-40B4-BE49-F238E27FC236}">
                <a16:creationId xmlns:a16="http://schemas.microsoft.com/office/drawing/2014/main" id="{1707A13B-923F-41BC-B48E-4B5111DC215B}"/>
              </a:ext>
            </a:extLst>
          </p:cNvPr>
          <p:cNvPicPr>
            <a:picLocks noChangeAspect="1"/>
          </p:cNvPicPr>
          <p:nvPr/>
        </p:nvPicPr>
        <p:blipFill>
          <a:blip r:embed="rId3"/>
          <a:stretch>
            <a:fillRect/>
          </a:stretch>
        </p:blipFill>
        <p:spPr>
          <a:xfrm>
            <a:off x="6619225" y="1278046"/>
            <a:ext cx="4658375" cy="1562318"/>
          </a:xfrm>
          <a:prstGeom prst="rect">
            <a:avLst/>
          </a:prstGeom>
        </p:spPr>
      </p:pic>
      <p:sp>
        <p:nvSpPr>
          <p:cNvPr id="7" name="Title 1">
            <a:extLst>
              <a:ext uri="{FF2B5EF4-FFF2-40B4-BE49-F238E27FC236}">
                <a16:creationId xmlns:a16="http://schemas.microsoft.com/office/drawing/2014/main" id="{ED45F5D4-AE2C-3BDE-F76B-65BCA40DE0DE}"/>
              </a:ext>
            </a:extLst>
          </p:cNvPr>
          <p:cNvSpPr txBox="1">
            <a:spLocks/>
          </p:cNvSpPr>
          <p:nvPr/>
        </p:nvSpPr>
        <p:spPr>
          <a:xfrm>
            <a:off x="457200" y="3429000"/>
            <a:ext cx="9220200" cy="369332"/>
          </a:xfrm>
          <a:prstGeom prst="rect">
            <a:avLst/>
          </a:prstGeom>
        </p:spPr>
        <p:txBody>
          <a:bodyPr wrap="square" lIns="0" tIns="0" rIns="0" bIns="0">
            <a:spAutoFit/>
          </a:bodyPr>
          <a:lstStyle>
            <a:lvl1pPr>
              <a:defRPr sz="3200" b="1" i="1">
                <a:solidFill>
                  <a:schemeClr val="tx1"/>
                </a:solidFill>
                <a:latin typeface="Times New Roman"/>
                <a:ea typeface="+mj-ea"/>
                <a:cs typeface="Times New Roman"/>
              </a:defRPr>
            </a:lvl1pPr>
          </a:lstStyle>
          <a:p>
            <a:r>
              <a:rPr lang="en-US" sz="2400" dirty="0"/>
              <a:t>Countries with highest Energy Consumption for their relative GDP </a:t>
            </a:r>
          </a:p>
        </p:txBody>
      </p:sp>
      <p:pic>
        <p:nvPicPr>
          <p:cNvPr id="10" name="Picture 9">
            <a:extLst>
              <a:ext uri="{FF2B5EF4-FFF2-40B4-BE49-F238E27FC236}">
                <a16:creationId xmlns:a16="http://schemas.microsoft.com/office/drawing/2014/main" id="{6A49273D-B35A-8941-BE36-45A0020615E8}"/>
              </a:ext>
            </a:extLst>
          </p:cNvPr>
          <p:cNvPicPr>
            <a:picLocks noChangeAspect="1"/>
          </p:cNvPicPr>
          <p:nvPr/>
        </p:nvPicPr>
        <p:blipFill>
          <a:blip r:embed="rId4"/>
          <a:stretch>
            <a:fillRect/>
          </a:stretch>
        </p:blipFill>
        <p:spPr>
          <a:xfrm>
            <a:off x="762001" y="4170254"/>
            <a:ext cx="5029199" cy="1292225"/>
          </a:xfrm>
          <a:prstGeom prst="rect">
            <a:avLst/>
          </a:prstGeom>
        </p:spPr>
      </p:pic>
      <p:pic>
        <p:nvPicPr>
          <p:cNvPr id="12" name="Picture 11">
            <a:extLst>
              <a:ext uri="{FF2B5EF4-FFF2-40B4-BE49-F238E27FC236}">
                <a16:creationId xmlns:a16="http://schemas.microsoft.com/office/drawing/2014/main" id="{F56EC711-A859-FB2D-7701-757DD7D21AE0}"/>
              </a:ext>
            </a:extLst>
          </p:cNvPr>
          <p:cNvPicPr>
            <a:picLocks noChangeAspect="1"/>
          </p:cNvPicPr>
          <p:nvPr/>
        </p:nvPicPr>
        <p:blipFill>
          <a:blip r:embed="rId5"/>
          <a:stretch>
            <a:fillRect/>
          </a:stretch>
        </p:blipFill>
        <p:spPr>
          <a:xfrm>
            <a:off x="6553200" y="4017637"/>
            <a:ext cx="4353533" cy="2000529"/>
          </a:xfrm>
          <a:prstGeom prst="rect">
            <a:avLst/>
          </a:prstGeom>
        </p:spPr>
      </p:pic>
    </p:spTree>
    <p:extLst>
      <p:ext uri="{BB962C8B-B14F-4D97-AF65-F5344CB8AC3E}">
        <p14:creationId xmlns:p14="http://schemas.microsoft.com/office/powerpoint/2010/main" val="3716125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57200"/>
            <a:ext cx="9748520" cy="518159"/>
          </a:xfrm>
          <a:prstGeom prst="rect">
            <a:avLst/>
          </a:prstGeom>
        </p:spPr>
        <p:txBody>
          <a:bodyPr vert="horz" wrap="square" lIns="0" tIns="16510" rIns="0" bIns="0" rtlCol="0">
            <a:spAutoFit/>
          </a:bodyPr>
          <a:lstStyle/>
          <a:p>
            <a:pPr marL="12700">
              <a:lnSpc>
                <a:spcPct val="100000"/>
              </a:lnSpc>
              <a:spcBef>
                <a:spcPts val="130"/>
              </a:spcBef>
            </a:pPr>
            <a:r>
              <a:rPr dirty="0">
                <a:solidFill>
                  <a:srgbClr val="FF0000"/>
                </a:solidFill>
              </a:rPr>
              <a:t>Key</a:t>
            </a:r>
            <a:r>
              <a:rPr spc="-95" dirty="0">
                <a:solidFill>
                  <a:srgbClr val="FF0000"/>
                </a:solidFill>
              </a:rPr>
              <a:t> </a:t>
            </a:r>
            <a:r>
              <a:rPr dirty="0">
                <a:solidFill>
                  <a:srgbClr val="FF0000"/>
                </a:solidFill>
              </a:rPr>
              <a:t>Insights</a:t>
            </a:r>
            <a:r>
              <a:rPr spc="-55" dirty="0">
                <a:solidFill>
                  <a:srgbClr val="FF0000"/>
                </a:solidFill>
              </a:rPr>
              <a:t> </a:t>
            </a:r>
            <a:r>
              <a:rPr dirty="0">
                <a:solidFill>
                  <a:srgbClr val="FF0000"/>
                </a:solidFill>
              </a:rPr>
              <a:t>From</a:t>
            </a:r>
            <a:r>
              <a:rPr spc="-45" dirty="0">
                <a:solidFill>
                  <a:srgbClr val="FF0000"/>
                </a:solidFill>
              </a:rPr>
              <a:t> </a:t>
            </a:r>
            <a:r>
              <a:rPr dirty="0">
                <a:solidFill>
                  <a:srgbClr val="FF0000"/>
                </a:solidFill>
              </a:rPr>
              <a:t>the</a:t>
            </a:r>
            <a:r>
              <a:rPr spc="-10" dirty="0">
                <a:solidFill>
                  <a:srgbClr val="FF0000"/>
                </a:solidFill>
              </a:rPr>
              <a:t> </a:t>
            </a:r>
            <a:r>
              <a:rPr dirty="0">
                <a:solidFill>
                  <a:srgbClr val="FF0000"/>
                </a:solidFill>
              </a:rPr>
              <a:t>Energy</a:t>
            </a:r>
            <a:r>
              <a:rPr spc="-20" dirty="0">
                <a:solidFill>
                  <a:srgbClr val="FF0000"/>
                </a:solidFill>
              </a:rPr>
              <a:t> </a:t>
            </a:r>
            <a:r>
              <a:rPr dirty="0">
                <a:solidFill>
                  <a:srgbClr val="FF0000"/>
                </a:solidFill>
              </a:rPr>
              <a:t>&amp;</a:t>
            </a:r>
            <a:r>
              <a:rPr spc="-105" dirty="0">
                <a:solidFill>
                  <a:srgbClr val="FF0000"/>
                </a:solidFill>
              </a:rPr>
              <a:t> </a:t>
            </a:r>
            <a:r>
              <a:rPr dirty="0">
                <a:solidFill>
                  <a:srgbClr val="FF0000"/>
                </a:solidFill>
              </a:rPr>
              <a:t>Emissions</a:t>
            </a:r>
            <a:r>
              <a:rPr spc="-55" dirty="0">
                <a:solidFill>
                  <a:srgbClr val="FF0000"/>
                </a:solidFill>
              </a:rPr>
              <a:t> </a:t>
            </a:r>
            <a:r>
              <a:rPr dirty="0">
                <a:solidFill>
                  <a:srgbClr val="FF0000"/>
                </a:solidFill>
              </a:rPr>
              <a:t>SQL</a:t>
            </a:r>
            <a:r>
              <a:rPr spc="25" dirty="0">
                <a:solidFill>
                  <a:srgbClr val="FF0000"/>
                </a:solidFill>
              </a:rPr>
              <a:t> </a:t>
            </a:r>
            <a:r>
              <a:rPr spc="-10" dirty="0">
                <a:solidFill>
                  <a:srgbClr val="FF0000"/>
                </a:solidFill>
              </a:rPr>
              <a:t>Analysis</a:t>
            </a:r>
          </a:p>
        </p:txBody>
      </p:sp>
      <p:sp>
        <p:nvSpPr>
          <p:cNvPr id="3" name="object 3"/>
          <p:cNvSpPr txBox="1"/>
          <p:nvPr/>
        </p:nvSpPr>
        <p:spPr>
          <a:xfrm>
            <a:off x="997585" y="1371600"/>
            <a:ext cx="10196830" cy="4426212"/>
          </a:xfrm>
          <a:prstGeom prst="rect">
            <a:avLst/>
          </a:prstGeom>
        </p:spPr>
        <p:txBody>
          <a:bodyPr vert="horz" wrap="square" lIns="0" tIns="27305" rIns="0" bIns="0" rtlCol="0">
            <a:spAutoFit/>
          </a:bodyPr>
          <a:lstStyle/>
          <a:p>
            <a:pPr marL="355600" marR="5080" indent="-342900" algn="l">
              <a:spcBef>
                <a:spcPts val="215"/>
              </a:spcBef>
              <a:buFont typeface="Wingdings"/>
              <a:buChar char=""/>
              <a:tabLst>
                <a:tab pos="355600" algn="l"/>
              </a:tabLst>
            </a:pPr>
            <a:r>
              <a:rPr sz="2000" dirty="0">
                <a:latin typeface="Times New Roman"/>
                <a:cs typeface="Times New Roman"/>
              </a:rPr>
              <a:t>The</a:t>
            </a:r>
            <a:r>
              <a:rPr sz="2000" spc="380" dirty="0">
                <a:latin typeface="Times New Roman"/>
                <a:cs typeface="Times New Roman"/>
              </a:rPr>
              <a:t>  </a:t>
            </a:r>
            <a:r>
              <a:rPr sz="2000" dirty="0">
                <a:latin typeface="Times New Roman"/>
                <a:cs typeface="Times New Roman"/>
              </a:rPr>
              <a:t>database</a:t>
            </a:r>
            <a:r>
              <a:rPr sz="2000" spc="395" dirty="0">
                <a:latin typeface="Times New Roman"/>
                <a:cs typeface="Times New Roman"/>
              </a:rPr>
              <a:t> </a:t>
            </a:r>
            <a:r>
              <a:rPr sz="2000" dirty="0">
                <a:latin typeface="Times New Roman"/>
                <a:cs typeface="Times New Roman"/>
              </a:rPr>
              <a:t>organizes</a:t>
            </a:r>
            <a:r>
              <a:rPr sz="2000" spc="405" dirty="0">
                <a:latin typeface="Times New Roman"/>
                <a:cs typeface="Times New Roman"/>
              </a:rPr>
              <a:t> </a:t>
            </a:r>
            <a:r>
              <a:rPr sz="2000" dirty="0">
                <a:latin typeface="Times New Roman"/>
                <a:cs typeface="Times New Roman"/>
              </a:rPr>
              <a:t>global</a:t>
            </a:r>
            <a:r>
              <a:rPr sz="2000" spc="400" dirty="0">
                <a:latin typeface="Times New Roman"/>
                <a:cs typeface="Times New Roman"/>
              </a:rPr>
              <a:t> </a:t>
            </a:r>
            <a:r>
              <a:rPr sz="2000" dirty="0">
                <a:latin typeface="Times New Roman"/>
                <a:cs typeface="Times New Roman"/>
              </a:rPr>
              <a:t>data</a:t>
            </a:r>
            <a:r>
              <a:rPr sz="2000" spc="400" dirty="0">
                <a:latin typeface="Times New Roman"/>
                <a:cs typeface="Times New Roman"/>
              </a:rPr>
              <a:t> </a:t>
            </a:r>
            <a:r>
              <a:rPr sz="2000" dirty="0">
                <a:latin typeface="Times New Roman"/>
                <a:cs typeface="Times New Roman"/>
              </a:rPr>
              <a:t>on</a:t>
            </a:r>
            <a:r>
              <a:rPr sz="2000" spc="405" dirty="0">
                <a:latin typeface="Times New Roman"/>
                <a:cs typeface="Times New Roman"/>
              </a:rPr>
              <a:t> </a:t>
            </a:r>
            <a:r>
              <a:rPr sz="2000" dirty="0">
                <a:latin typeface="Times New Roman"/>
                <a:cs typeface="Times New Roman"/>
              </a:rPr>
              <a:t>emissions,</a:t>
            </a:r>
            <a:r>
              <a:rPr sz="2000" spc="409" dirty="0">
                <a:latin typeface="Times New Roman"/>
                <a:cs typeface="Times New Roman"/>
              </a:rPr>
              <a:t> </a:t>
            </a:r>
            <a:r>
              <a:rPr sz="2000" dirty="0">
                <a:latin typeface="Times New Roman"/>
                <a:cs typeface="Times New Roman"/>
              </a:rPr>
              <a:t>energy</a:t>
            </a:r>
            <a:r>
              <a:rPr sz="2000" spc="400" dirty="0">
                <a:latin typeface="Times New Roman"/>
                <a:cs typeface="Times New Roman"/>
              </a:rPr>
              <a:t> </a:t>
            </a:r>
            <a:r>
              <a:rPr sz="2000" spc="-10" dirty="0">
                <a:latin typeface="Times New Roman"/>
                <a:cs typeface="Times New Roman"/>
              </a:rPr>
              <a:t>production, </a:t>
            </a:r>
            <a:r>
              <a:rPr sz="2000" dirty="0">
                <a:latin typeface="Times New Roman"/>
                <a:cs typeface="Times New Roman"/>
              </a:rPr>
              <a:t>consumption,</a:t>
            </a:r>
            <a:r>
              <a:rPr sz="2000" spc="-15" dirty="0">
                <a:latin typeface="Times New Roman"/>
                <a:cs typeface="Times New Roman"/>
              </a:rPr>
              <a:t> </a:t>
            </a:r>
            <a:r>
              <a:rPr sz="2000" dirty="0">
                <a:latin typeface="Times New Roman"/>
                <a:cs typeface="Times New Roman"/>
              </a:rPr>
              <a:t>GDP,</a:t>
            </a:r>
            <a:r>
              <a:rPr sz="2000" spc="-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population</a:t>
            </a:r>
            <a:r>
              <a:rPr sz="2000" spc="-40" dirty="0">
                <a:latin typeface="Times New Roman"/>
                <a:cs typeface="Times New Roman"/>
              </a:rPr>
              <a:t> </a:t>
            </a:r>
            <a:r>
              <a:rPr sz="2000" dirty="0">
                <a:latin typeface="Times New Roman"/>
                <a:cs typeface="Times New Roman"/>
              </a:rPr>
              <a:t>for</a:t>
            </a:r>
            <a:r>
              <a:rPr sz="2000" spc="-45" dirty="0">
                <a:latin typeface="Times New Roman"/>
                <a:cs typeface="Times New Roman"/>
              </a:rPr>
              <a:t> </a:t>
            </a:r>
            <a:r>
              <a:rPr sz="2000" dirty="0">
                <a:latin typeface="Times New Roman"/>
                <a:cs typeface="Times New Roman"/>
              </a:rPr>
              <a:t>each</a:t>
            </a:r>
            <a:r>
              <a:rPr sz="2000" spc="-50" dirty="0">
                <a:latin typeface="Times New Roman"/>
                <a:cs typeface="Times New Roman"/>
              </a:rPr>
              <a:t> </a:t>
            </a:r>
            <a:r>
              <a:rPr sz="2000" spc="-10" dirty="0">
                <a:latin typeface="Times New Roman"/>
                <a:cs typeface="Times New Roman"/>
              </a:rPr>
              <a:t>country.</a:t>
            </a:r>
            <a:endParaRPr sz="2000" dirty="0">
              <a:latin typeface="Times New Roman"/>
              <a:cs typeface="Times New Roman"/>
            </a:endParaRPr>
          </a:p>
          <a:p>
            <a:pPr marL="355600" marR="10160" indent="-342900" algn="l">
              <a:spcBef>
                <a:spcPts val="2750"/>
              </a:spcBef>
              <a:buFont typeface="Wingdings"/>
              <a:buChar char=""/>
              <a:tabLst>
                <a:tab pos="355600" algn="l"/>
              </a:tabLst>
            </a:pPr>
            <a:r>
              <a:rPr sz="2000" dirty="0">
                <a:latin typeface="Times New Roman"/>
                <a:cs typeface="Times New Roman"/>
              </a:rPr>
              <a:t>SQL</a:t>
            </a:r>
            <a:r>
              <a:rPr sz="2000" spc="105" dirty="0">
                <a:latin typeface="Times New Roman"/>
                <a:cs typeface="Times New Roman"/>
              </a:rPr>
              <a:t> </a:t>
            </a:r>
            <a:r>
              <a:rPr sz="2000" dirty="0">
                <a:latin typeface="Times New Roman"/>
                <a:cs typeface="Times New Roman"/>
              </a:rPr>
              <a:t>queries</a:t>
            </a:r>
            <a:r>
              <a:rPr sz="2000" spc="114" dirty="0">
                <a:latin typeface="Times New Roman"/>
                <a:cs typeface="Times New Roman"/>
              </a:rPr>
              <a:t> </a:t>
            </a:r>
            <a:r>
              <a:rPr sz="2000" dirty="0">
                <a:latin typeface="Times New Roman"/>
                <a:cs typeface="Times New Roman"/>
              </a:rPr>
              <a:t>help</a:t>
            </a:r>
            <a:r>
              <a:rPr sz="2000" spc="114" dirty="0">
                <a:latin typeface="Times New Roman"/>
                <a:cs typeface="Times New Roman"/>
              </a:rPr>
              <a:t> </a:t>
            </a:r>
            <a:r>
              <a:rPr sz="2000" dirty="0">
                <a:latin typeface="Times New Roman"/>
                <a:cs typeface="Times New Roman"/>
              </a:rPr>
              <a:t>analyze</a:t>
            </a:r>
            <a:r>
              <a:rPr sz="2000" spc="140" dirty="0">
                <a:latin typeface="Times New Roman"/>
                <a:cs typeface="Times New Roman"/>
              </a:rPr>
              <a:t> </a:t>
            </a:r>
            <a:r>
              <a:rPr sz="2000" dirty="0">
                <a:latin typeface="Times New Roman"/>
                <a:cs typeface="Times New Roman"/>
              </a:rPr>
              <a:t>global</a:t>
            </a:r>
            <a:r>
              <a:rPr sz="2000" spc="105" dirty="0">
                <a:latin typeface="Times New Roman"/>
                <a:cs typeface="Times New Roman"/>
              </a:rPr>
              <a:t> </a:t>
            </a:r>
            <a:r>
              <a:rPr sz="2000" dirty="0">
                <a:latin typeface="Times New Roman"/>
                <a:cs typeface="Times New Roman"/>
              </a:rPr>
              <a:t>trends,</a:t>
            </a:r>
            <a:r>
              <a:rPr sz="2000" spc="130" dirty="0">
                <a:latin typeface="Times New Roman"/>
                <a:cs typeface="Times New Roman"/>
              </a:rPr>
              <a:t> </a:t>
            </a:r>
            <a:r>
              <a:rPr sz="2000" dirty="0">
                <a:latin typeface="Times New Roman"/>
                <a:cs typeface="Times New Roman"/>
              </a:rPr>
              <a:t>such</a:t>
            </a:r>
            <a:r>
              <a:rPr sz="2000" spc="95" dirty="0">
                <a:latin typeface="Times New Roman"/>
                <a:cs typeface="Times New Roman"/>
              </a:rPr>
              <a:t> </a:t>
            </a:r>
            <a:r>
              <a:rPr sz="2000" dirty="0">
                <a:latin typeface="Times New Roman"/>
                <a:cs typeface="Times New Roman"/>
              </a:rPr>
              <a:t>as</a:t>
            </a:r>
            <a:r>
              <a:rPr sz="2000" spc="135" dirty="0">
                <a:latin typeface="Times New Roman"/>
                <a:cs typeface="Times New Roman"/>
              </a:rPr>
              <a:t> </a:t>
            </a:r>
            <a:r>
              <a:rPr sz="2000" dirty="0">
                <a:latin typeface="Times New Roman"/>
                <a:cs typeface="Times New Roman"/>
              </a:rPr>
              <a:t>rising</a:t>
            </a:r>
            <a:r>
              <a:rPr sz="2000" spc="114" dirty="0">
                <a:latin typeface="Times New Roman"/>
                <a:cs typeface="Times New Roman"/>
              </a:rPr>
              <a:t> </a:t>
            </a:r>
            <a:r>
              <a:rPr sz="2000" dirty="0">
                <a:latin typeface="Times New Roman"/>
                <a:cs typeface="Times New Roman"/>
              </a:rPr>
              <a:t>or</a:t>
            </a:r>
            <a:r>
              <a:rPr sz="2000" spc="114" dirty="0">
                <a:latin typeface="Times New Roman"/>
                <a:cs typeface="Times New Roman"/>
              </a:rPr>
              <a:t> </a:t>
            </a:r>
            <a:r>
              <a:rPr sz="2000" dirty="0">
                <a:latin typeface="Times New Roman"/>
                <a:cs typeface="Times New Roman"/>
              </a:rPr>
              <a:t>falling</a:t>
            </a:r>
            <a:r>
              <a:rPr sz="2000" spc="140" dirty="0">
                <a:latin typeface="Times New Roman"/>
                <a:cs typeface="Times New Roman"/>
              </a:rPr>
              <a:t> </a:t>
            </a:r>
            <a:r>
              <a:rPr sz="2000" dirty="0">
                <a:latin typeface="Times New Roman"/>
                <a:cs typeface="Times New Roman"/>
              </a:rPr>
              <a:t>emissions</a:t>
            </a:r>
            <a:r>
              <a:rPr sz="2000" spc="114" dirty="0">
                <a:latin typeface="Times New Roman"/>
                <a:cs typeface="Times New Roman"/>
              </a:rPr>
              <a:t> </a:t>
            </a:r>
            <a:r>
              <a:rPr sz="2000" spc="-25" dirty="0">
                <a:latin typeface="Times New Roman"/>
                <a:cs typeface="Times New Roman"/>
              </a:rPr>
              <a:t>and </a:t>
            </a:r>
            <a:r>
              <a:rPr sz="2000" dirty="0">
                <a:latin typeface="Times New Roman"/>
                <a:cs typeface="Times New Roman"/>
              </a:rPr>
              <a:t>energy</a:t>
            </a:r>
            <a:r>
              <a:rPr sz="2000" spc="-20" dirty="0">
                <a:latin typeface="Times New Roman"/>
                <a:cs typeface="Times New Roman"/>
              </a:rPr>
              <a:t> </a:t>
            </a:r>
            <a:r>
              <a:rPr sz="2000" dirty="0">
                <a:latin typeface="Times New Roman"/>
                <a:cs typeface="Times New Roman"/>
              </a:rPr>
              <a:t>usage</a:t>
            </a:r>
            <a:r>
              <a:rPr sz="2000" spc="-40" dirty="0">
                <a:latin typeface="Times New Roman"/>
                <a:cs typeface="Times New Roman"/>
              </a:rPr>
              <a:t> </a:t>
            </a:r>
            <a:r>
              <a:rPr sz="2000" spc="-10" dirty="0">
                <a:latin typeface="Times New Roman"/>
                <a:cs typeface="Times New Roman"/>
              </a:rPr>
              <a:t>patterns.</a:t>
            </a:r>
            <a:endParaRPr sz="2000" dirty="0">
              <a:latin typeface="Times New Roman"/>
              <a:cs typeface="Times New Roman"/>
            </a:endParaRPr>
          </a:p>
          <a:p>
            <a:pPr algn="l">
              <a:spcBef>
                <a:spcPts val="65"/>
              </a:spcBef>
              <a:buFont typeface="Wingdings"/>
              <a:buChar char=""/>
            </a:pPr>
            <a:endParaRPr sz="2000" dirty="0">
              <a:latin typeface="Times New Roman"/>
              <a:cs typeface="Times New Roman"/>
            </a:endParaRPr>
          </a:p>
          <a:p>
            <a:pPr marL="354965" indent="-342265" algn="l">
              <a:spcBef>
                <a:spcPts val="5"/>
              </a:spcBef>
              <a:buFont typeface="Wingdings"/>
              <a:buChar char=""/>
              <a:tabLst>
                <a:tab pos="354965" algn="l"/>
                <a:tab pos="1028700" algn="l"/>
                <a:tab pos="2073910" algn="l"/>
                <a:tab pos="3037840" algn="l"/>
                <a:tab pos="3764279" algn="l"/>
                <a:tab pos="4793615" algn="l"/>
                <a:tab pos="5713095" algn="l"/>
                <a:tab pos="7096759" algn="l"/>
                <a:tab pos="8237220" algn="l"/>
                <a:tab pos="8877300" algn="l"/>
              </a:tabLst>
            </a:pPr>
            <a:r>
              <a:rPr sz="2000" spc="-25" dirty="0">
                <a:latin typeface="Times New Roman"/>
                <a:cs typeface="Times New Roman"/>
              </a:rPr>
              <a:t>The</a:t>
            </a:r>
            <a:r>
              <a:rPr lang="en-US" sz="2000" spc="-25" dirty="0">
                <a:latin typeface="Times New Roman"/>
                <a:cs typeface="Times New Roman"/>
              </a:rPr>
              <a:t> </a:t>
            </a:r>
            <a:r>
              <a:rPr sz="2000" spc="-10" dirty="0">
                <a:latin typeface="Times New Roman"/>
                <a:cs typeface="Times New Roman"/>
              </a:rPr>
              <a:t>project</a:t>
            </a:r>
            <a:r>
              <a:rPr lang="en-US" sz="2000" spc="-10" dirty="0">
                <a:latin typeface="Times New Roman"/>
                <a:cs typeface="Times New Roman"/>
              </a:rPr>
              <a:t> </a:t>
            </a:r>
            <a:r>
              <a:rPr sz="2000" spc="-20" dirty="0">
                <a:latin typeface="Times New Roman"/>
                <a:cs typeface="Times New Roman"/>
              </a:rPr>
              <a:t>shows</a:t>
            </a:r>
            <a:r>
              <a:rPr lang="en-US" sz="2000" spc="-20" dirty="0">
                <a:latin typeface="Times New Roman"/>
                <a:cs typeface="Times New Roman"/>
              </a:rPr>
              <a:t> </a:t>
            </a:r>
            <a:r>
              <a:rPr sz="2000" spc="-25" dirty="0">
                <a:latin typeface="Times New Roman"/>
                <a:cs typeface="Times New Roman"/>
              </a:rPr>
              <a:t>how</a:t>
            </a:r>
            <a:r>
              <a:rPr lang="en-US" sz="2000" spc="-25" dirty="0">
                <a:latin typeface="Times New Roman"/>
                <a:cs typeface="Times New Roman"/>
              </a:rPr>
              <a:t> </a:t>
            </a:r>
            <a:r>
              <a:rPr sz="2000" spc="-10" dirty="0">
                <a:latin typeface="Times New Roman"/>
                <a:cs typeface="Times New Roman"/>
              </a:rPr>
              <a:t>energy</a:t>
            </a:r>
            <a:r>
              <a:rPr lang="en-US" sz="2000" spc="-10" dirty="0">
                <a:latin typeface="Times New Roman"/>
                <a:cs typeface="Times New Roman"/>
              </a:rPr>
              <a:t> </a:t>
            </a:r>
            <a:r>
              <a:rPr sz="2000" spc="-10" dirty="0">
                <a:latin typeface="Times New Roman"/>
                <a:cs typeface="Times New Roman"/>
              </a:rPr>
              <a:t>types,</a:t>
            </a:r>
            <a:r>
              <a:rPr lang="en-US" sz="2000" spc="-10" dirty="0">
                <a:latin typeface="Times New Roman"/>
                <a:cs typeface="Times New Roman"/>
              </a:rPr>
              <a:t> </a:t>
            </a:r>
            <a:r>
              <a:rPr lang="en-IN" sz="2000" spc="-10" dirty="0">
                <a:latin typeface="Times New Roman"/>
                <a:cs typeface="Times New Roman"/>
              </a:rPr>
              <a:t>e</a:t>
            </a:r>
            <a:r>
              <a:rPr sz="2000" spc="-10" dirty="0" err="1">
                <a:latin typeface="Times New Roman"/>
                <a:cs typeface="Times New Roman"/>
              </a:rPr>
              <a:t>conomic</a:t>
            </a:r>
            <a:r>
              <a:rPr lang="en-US" sz="2000" spc="-10" dirty="0">
                <a:latin typeface="Times New Roman"/>
                <a:cs typeface="Times New Roman"/>
              </a:rPr>
              <a:t> </a:t>
            </a:r>
            <a:r>
              <a:rPr sz="2000" spc="-10" dirty="0">
                <a:latin typeface="Times New Roman"/>
                <a:cs typeface="Times New Roman"/>
              </a:rPr>
              <a:t>growth,</a:t>
            </a:r>
            <a:r>
              <a:rPr lang="en-US" sz="2000" spc="-10" dirty="0">
                <a:latin typeface="Times New Roman"/>
                <a:cs typeface="Times New Roman"/>
              </a:rPr>
              <a:t> </a:t>
            </a:r>
            <a:r>
              <a:rPr sz="2000" spc="-25" dirty="0">
                <a:latin typeface="Times New Roman"/>
                <a:cs typeface="Times New Roman"/>
              </a:rPr>
              <a:t>and</a:t>
            </a:r>
            <a:r>
              <a:rPr lang="en-US" sz="2000" spc="-25" dirty="0">
                <a:latin typeface="Times New Roman"/>
                <a:cs typeface="Times New Roman"/>
              </a:rPr>
              <a:t> </a:t>
            </a:r>
            <a:r>
              <a:rPr sz="2000" spc="-10" dirty="0">
                <a:latin typeface="Times New Roman"/>
                <a:cs typeface="Times New Roman"/>
              </a:rPr>
              <a:t>population</a:t>
            </a:r>
            <a:r>
              <a:rPr lang="en-US" sz="2000" spc="-10" dirty="0">
                <a:latin typeface="Times New Roman"/>
                <a:cs typeface="Times New Roman"/>
              </a:rPr>
              <a:t> </a:t>
            </a:r>
            <a:r>
              <a:rPr sz="2000" dirty="0">
                <a:latin typeface="Times New Roman"/>
                <a:cs typeface="Times New Roman"/>
              </a:rPr>
              <a:t>influence</a:t>
            </a:r>
            <a:r>
              <a:rPr sz="2000" spc="-65" dirty="0">
                <a:latin typeface="Times New Roman"/>
                <a:cs typeface="Times New Roman"/>
              </a:rPr>
              <a:t> </a:t>
            </a:r>
            <a:r>
              <a:rPr sz="2000" dirty="0">
                <a:latin typeface="Times New Roman"/>
                <a:cs typeface="Times New Roman"/>
              </a:rPr>
              <a:t>a</a:t>
            </a:r>
            <a:r>
              <a:rPr sz="2000" spc="-35" dirty="0">
                <a:latin typeface="Times New Roman"/>
                <a:cs typeface="Times New Roman"/>
              </a:rPr>
              <a:t> </a:t>
            </a:r>
            <a:r>
              <a:rPr sz="2000" dirty="0">
                <a:latin typeface="Times New Roman"/>
                <a:cs typeface="Times New Roman"/>
              </a:rPr>
              <a:t>country’s</a:t>
            </a:r>
            <a:r>
              <a:rPr sz="2000" spc="5" dirty="0">
                <a:latin typeface="Times New Roman"/>
                <a:cs typeface="Times New Roman"/>
              </a:rPr>
              <a:t> </a:t>
            </a:r>
            <a:r>
              <a:rPr sz="2000" dirty="0">
                <a:latin typeface="Times New Roman"/>
                <a:cs typeface="Times New Roman"/>
              </a:rPr>
              <a:t>environmental</a:t>
            </a:r>
            <a:r>
              <a:rPr sz="2000" spc="-45" dirty="0">
                <a:latin typeface="Times New Roman"/>
                <a:cs typeface="Times New Roman"/>
              </a:rPr>
              <a:t> </a:t>
            </a:r>
            <a:r>
              <a:rPr sz="2000" spc="-10" dirty="0">
                <a:latin typeface="Times New Roman"/>
                <a:cs typeface="Times New Roman"/>
              </a:rPr>
              <a:t>impact.</a:t>
            </a:r>
            <a:endParaRPr sz="2000" dirty="0">
              <a:latin typeface="Times New Roman"/>
              <a:cs typeface="Times New Roman"/>
            </a:endParaRPr>
          </a:p>
          <a:p>
            <a:pPr algn="l">
              <a:spcBef>
                <a:spcPts val="145"/>
              </a:spcBef>
            </a:pPr>
            <a:endParaRPr sz="2000" dirty="0">
              <a:latin typeface="Times New Roman"/>
              <a:cs typeface="Times New Roman"/>
            </a:endParaRPr>
          </a:p>
          <a:p>
            <a:pPr marL="354965" indent="-342265" algn="l">
              <a:buFont typeface="Wingdings"/>
              <a:buChar char=""/>
              <a:tabLst>
                <a:tab pos="354965" algn="l"/>
                <a:tab pos="2284730" algn="l"/>
                <a:tab pos="3536315" algn="l"/>
                <a:tab pos="4110990" algn="l"/>
                <a:tab pos="5074920" algn="l"/>
                <a:tab pos="5852795" algn="l"/>
                <a:tab pos="7475855" algn="l"/>
                <a:tab pos="8202930" algn="l"/>
                <a:tab pos="8574405" algn="l"/>
                <a:tab pos="9808210" algn="l"/>
              </a:tabLst>
            </a:pPr>
            <a:r>
              <a:rPr sz="2000" spc="-10" dirty="0">
                <a:latin typeface="Times New Roman"/>
                <a:cs typeface="Times New Roman"/>
              </a:rPr>
              <a:t>High-emission</a:t>
            </a:r>
            <a:r>
              <a:rPr lang="en-US" sz="2000" spc="-10" dirty="0">
                <a:latin typeface="Times New Roman"/>
                <a:cs typeface="Times New Roman"/>
              </a:rPr>
              <a:t> </a:t>
            </a:r>
            <a:r>
              <a:rPr sz="2000" spc="-10" dirty="0">
                <a:latin typeface="Times New Roman"/>
                <a:cs typeface="Times New Roman"/>
              </a:rPr>
              <a:t>countries</a:t>
            </a:r>
            <a:r>
              <a:rPr lang="en-US" sz="2000" spc="-10" dirty="0">
                <a:latin typeface="Times New Roman"/>
                <a:cs typeface="Times New Roman"/>
              </a:rPr>
              <a:t> </a:t>
            </a:r>
            <a:r>
              <a:rPr sz="2000" spc="-25" dirty="0">
                <a:latin typeface="Times New Roman"/>
                <a:cs typeface="Times New Roman"/>
              </a:rPr>
              <a:t>and</a:t>
            </a:r>
            <a:r>
              <a:rPr lang="en-US" sz="2000" spc="-25" dirty="0">
                <a:latin typeface="Times New Roman"/>
                <a:cs typeface="Times New Roman"/>
              </a:rPr>
              <a:t> </a:t>
            </a:r>
            <a:r>
              <a:rPr sz="2000" spc="-10" dirty="0">
                <a:latin typeface="Times New Roman"/>
                <a:cs typeface="Times New Roman"/>
              </a:rPr>
              <a:t>energy</a:t>
            </a:r>
            <a:r>
              <a:rPr lang="en-US" sz="2000" spc="-10" dirty="0">
                <a:latin typeface="Times New Roman"/>
                <a:cs typeface="Times New Roman"/>
              </a:rPr>
              <a:t> </a:t>
            </a:r>
            <a:r>
              <a:rPr sz="2000" spc="-10" dirty="0">
                <a:latin typeface="Times New Roman"/>
                <a:cs typeface="Times New Roman"/>
              </a:rPr>
              <a:t>types</a:t>
            </a:r>
            <a:r>
              <a:rPr lang="en-US" sz="2000" spc="-10" dirty="0">
                <a:latin typeface="Times New Roman"/>
                <a:cs typeface="Times New Roman"/>
              </a:rPr>
              <a:t> </a:t>
            </a:r>
            <a:r>
              <a:rPr sz="2000" spc="-10" dirty="0">
                <a:latin typeface="Times New Roman"/>
                <a:cs typeface="Times New Roman"/>
              </a:rPr>
              <a:t>contributing</a:t>
            </a:r>
            <a:r>
              <a:rPr lang="en-US" sz="2000" spc="-10" dirty="0">
                <a:latin typeface="Times New Roman"/>
                <a:cs typeface="Times New Roman"/>
              </a:rPr>
              <a:t> </a:t>
            </a:r>
            <a:r>
              <a:rPr sz="2000" spc="-20" dirty="0">
                <a:latin typeface="Times New Roman"/>
                <a:cs typeface="Times New Roman"/>
              </a:rPr>
              <a:t>most</a:t>
            </a:r>
            <a:r>
              <a:rPr lang="en-US" sz="2000" spc="-20" dirty="0">
                <a:latin typeface="Times New Roman"/>
                <a:cs typeface="Times New Roman"/>
              </a:rPr>
              <a:t> </a:t>
            </a:r>
            <a:r>
              <a:rPr sz="2000" spc="-25" dirty="0">
                <a:latin typeface="Times New Roman"/>
                <a:cs typeface="Times New Roman"/>
              </a:rPr>
              <a:t>to</a:t>
            </a:r>
            <a:r>
              <a:rPr lang="en-US" sz="2000" spc="-25" dirty="0">
                <a:latin typeface="Times New Roman"/>
                <a:cs typeface="Times New Roman"/>
              </a:rPr>
              <a:t> </a:t>
            </a:r>
            <a:r>
              <a:rPr sz="2000" spc="-10" dirty="0">
                <a:latin typeface="Times New Roman"/>
                <a:cs typeface="Times New Roman"/>
              </a:rPr>
              <a:t>pollution</a:t>
            </a:r>
            <a:r>
              <a:rPr lang="en-US" sz="2000" spc="-10" dirty="0">
                <a:latin typeface="Times New Roman"/>
                <a:cs typeface="Times New Roman"/>
              </a:rPr>
              <a:t> </a:t>
            </a:r>
            <a:r>
              <a:rPr sz="2000" spc="-25" dirty="0">
                <a:latin typeface="Times New Roman"/>
                <a:cs typeface="Times New Roman"/>
              </a:rPr>
              <a:t>are</a:t>
            </a:r>
            <a:r>
              <a:rPr lang="en-US" sz="2000" spc="-25" dirty="0">
                <a:latin typeface="Times New Roman"/>
                <a:cs typeface="Times New Roman"/>
              </a:rPr>
              <a:t> </a:t>
            </a:r>
            <a:r>
              <a:rPr sz="2000" dirty="0">
                <a:latin typeface="Times New Roman"/>
                <a:cs typeface="Times New Roman"/>
              </a:rPr>
              <a:t>easily</a:t>
            </a:r>
            <a:r>
              <a:rPr sz="2000" spc="-60" dirty="0">
                <a:latin typeface="Times New Roman"/>
                <a:cs typeface="Times New Roman"/>
              </a:rPr>
              <a:t> </a:t>
            </a:r>
            <a:r>
              <a:rPr sz="2000" dirty="0">
                <a:latin typeface="Times New Roman"/>
                <a:cs typeface="Times New Roman"/>
              </a:rPr>
              <a:t>identified through</a:t>
            </a:r>
            <a:r>
              <a:rPr sz="2000" spc="-55" dirty="0">
                <a:latin typeface="Times New Roman"/>
                <a:cs typeface="Times New Roman"/>
              </a:rPr>
              <a:t> </a:t>
            </a:r>
            <a:r>
              <a:rPr sz="2000" dirty="0">
                <a:latin typeface="Times New Roman"/>
                <a:cs typeface="Times New Roman"/>
              </a:rPr>
              <a:t>aggregated </a:t>
            </a:r>
            <a:r>
              <a:rPr sz="2000" spc="-10" dirty="0">
                <a:latin typeface="Times New Roman"/>
                <a:cs typeface="Times New Roman"/>
              </a:rPr>
              <a:t>queries.</a:t>
            </a:r>
            <a:endParaRPr sz="2000" dirty="0">
              <a:latin typeface="Times New Roman"/>
              <a:cs typeface="Times New Roman"/>
            </a:endParaRPr>
          </a:p>
          <a:p>
            <a:pPr algn="l">
              <a:spcBef>
                <a:spcPts val="130"/>
              </a:spcBef>
            </a:pPr>
            <a:endParaRPr sz="2000" dirty="0">
              <a:latin typeface="Times New Roman"/>
              <a:cs typeface="Times New Roman"/>
            </a:endParaRPr>
          </a:p>
          <a:p>
            <a:pPr marL="355600" marR="6985" indent="-342900" algn="l">
              <a:buFont typeface="Wingdings"/>
              <a:buChar char=""/>
              <a:tabLst>
                <a:tab pos="355600" algn="l"/>
              </a:tabLst>
            </a:pPr>
            <a:r>
              <a:rPr sz="2000" dirty="0">
                <a:latin typeface="Times New Roman"/>
                <a:cs typeface="Times New Roman"/>
              </a:rPr>
              <a:t>The</a:t>
            </a:r>
            <a:r>
              <a:rPr sz="2000" spc="409" dirty="0">
                <a:latin typeface="Times New Roman"/>
                <a:cs typeface="Times New Roman"/>
              </a:rPr>
              <a:t> </a:t>
            </a:r>
            <a:r>
              <a:rPr sz="2000" dirty="0">
                <a:latin typeface="Times New Roman"/>
                <a:cs typeface="Times New Roman"/>
              </a:rPr>
              <a:t>overall</a:t>
            </a:r>
            <a:r>
              <a:rPr sz="2000" spc="430" dirty="0">
                <a:latin typeface="Times New Roman"/>
                <a:cs typeface="Times New Roman"/>
              </a:rPr>
              <a:t> </a:t>
            </a:r>
            <a:r>
              <a:rPr sz="2000" dirty="0">
                <a:latin typeface="Times New Roman"/>
                <a:cs typeface="Times New Roman"/>
              </a:rPr>
              <a:t>analysis</a:t>
            </a:r>
            <a:r>
              <a:rPr sz="2000" spc="415" dirty="0">
                <a:latin typeface="Times New Roman"/>
                <a:cs typeface="Times New Roman"/>
              </a:rPr>
              <a:t> </a:t>
            </a:r>
            <a:r>
              <a:rPr sz="2000" dirty="0">
                <a:latin typeface="Times New Roman"/>
                <a:cs typeface="Times New Roman"/>
              </a:rPr>
              <a:t>supports</a:t>
            </a:r>
            <a:r>
              <a:rPr sz="2000" spc="470" dirty="0">
                <a:latin typeface="Times New Roman"/>
                <a:cs typeface="Times New Roman"/>
              </a:rPr>
              <a:t> </a:t>
            </a:r>
            <a:r>
              <a:rPr sz="2000" dirty="0">
                <a:latin typeface="Times New Roman"/>
                <a:cs typeface="Times New Roman"/>
              </a:rPr>
              <a:t>better</a:t>
            </a:r>
            <a:r>
              <a:rPr sz="2000" spc="455" dirty="0">
                <a:latin typeface="Times New Roman"/>
                <a:cs typeface="Times New Roman"/>
              </a:rPr>
              <a:t> </a:t>
            </a:r>
            <a:r>
              <a:rPr sz="2000" dirty="0">
                <a:latin typeface="Times New Roman"/>
                <a:cs typeface="Times New Roman"/>
              </a:rPr>
              <a:t>sustainability</a:t>
            </a:r>
            <a:r>
              <a:rPr sz="2000" spc="470" dirty="0">
                <a:latin typeface="Times New Roman"/>
                <a:cs typeface="Times New Roman"/>
              </a:rPr>
              <a:t> </a:t>
            </a:r>
            <a:r>
              <a:rPr sz="2000" dirty="0">
                <a:latin typeface="Times New Roman"/>
                <a:cs typeface="Times New Roman"/>
              </a:rPr>
              <a:t>decisions,</a:t>
            </a:r>
            <a:r>
              <a:rPr sz="2000" spc="440" dirty="0">
                <a:latin typeface="Times New Roman"/>
                <a:cs typeface="Times New Roman"/>
              </a:rPr>
              <a:t> </a:t>
            </a:r>
            <a:r>
              <a:rPr sz="2000" dirty="0">
                <a:latin typeface="Times New Roman"/>
                <a:cs typeface="Times New Roman"/>
              </a:rPr>
              <a:t>highlighting</a:t>
            </a:r>
            <a:r>
              <a:rPr sz="2000" spc="455" dirty="0">
                <a:latin typeface="Times New Roman"/>
                <a:cs typeface="Times New Roman"/>
              </a:rPr>
              <a:t> </a:t>
            </a:r>
            <a:r>
              <a:rPr sz="2000" spc="-25" dirty="0">
                <a:latin typeface="Times New Roman"/>
                <a:cs typeface="Times New Roman"/>
              </a:rPr>
              <a:t>the </a:t>
            </a:r>
            <a:r>
              <a:rPr sz="2000" dirty="0">
                <a:latin typeface="Times New Roman"/>
                <a:cs typeface="Times New Roman"/>
              </a:rPr>
              <a:t>need</a:t>
            </a:r>
            <a:r>
              <a:rPr sz="2000" spc="85" dirty="0">
                <a:latin typeface="Times New Roman"/>
                <a:cs typeface="Times New Roman"/>
              </a:rPr>
              <a:t> </a:t>
            </a:r>
            <a:r>
              <a:rPr sz="2000" dirty="0">
                <a:latin typeface="Times New Roman"/>
                <a:cs typeface="Times New Roman"/>
              </a:rPr>
              <a:t>for</a:t>
            </a:r>
            <a:r>
              <a:rPr sz="2000" spc="70" dirty="0">
                <a:latin typeface="Times New Roman"/>
                <a:cs typeface="Times New Roman"/>
              </a:rPr>
              <a:t> </a:t>
            </a:r>
            <a:r>
              <a:rPr sz="2000" dirty="0">
                <a:latin typeface="Times New Roman"/>
                <a:cs typeface="Times New Roman"/>
              </a:rPr>
              <a:t>clean</a:t>
            </a:r>
            <a:r>
              <a:rPr sz="2000" spc="90" dirty="0">
                <a:latin typeface="Times New Roman"/>
                <a:cs typeface="Times New Roman"/>
              </a:rPr>
              <a:t>  </a:t>
            </a:r>
            <a:r>
              <a:rPr sz="2000" dirty="0">
                <a:latin typeface="Times New Roman"/>
                <a:cs typeface="Times New Roman"/>
              </a:rPr>
              <a:t>energy,</a:t>
            </a:r>
            <a:r>
              <a:rPr sz="2000" spc="75" dirty="0">
                <a:latin typeface="Times New Roman"/>
                <a:cs typeface="Times New Roman"/>
              </a:rPr>
              <a:t> </a:t>
            </a:r>
            <a:r>
              <a:rPr sz="2000" dirty="0">
                <a:latin typeface="Times New Roman"/>
                <a:cs typeface="Times New Roman"/>
              </a:rPr>
              <a:t>efficient</a:t>
            </a:r>
            <a:r>
              <a:rPr sz="2000" spc="65" dirty="0">
                <a:latin typeface="Times New Roman"/>
                <a:cs typeface="Times New Roman"/>
              </a:rPr>
              <a:t> </a:t>
            </a:r>
            <a:r>
              <a:rPr sz="2000" dirty="0">
                <a:latin typeface="Times New Roman"/>
                <a:cs typeface="Times New Roman"/>
              </a:rPr>
              <a:t>use</a:t>
            </a:r>
            <a:r>
              <a:rPr sz="2000" spc="60" dirty="0">
                <a:latin typeface="Times New Roman"/>
                <a:cs typeface="Times New Roman"/>
              </a:rPr>
              <a:t> </a:t>
            </a:r>
            <a:r>
              <a:rPr sz="2000" dirty="0">
                <a:latin typeface="Times New Roman"/>
                <a:cs typeface="Times New Roman"/>
              </a:rPr>
              <a:t>of</a:t>
            </a:r>
            <a:r>
              <a:rPr sz="2000" spc="80" dirty="0">
                <a:latin typeface="Times New Roman"/>
                <a:cs typeface="Times New Roman"/>
              </a:rPr>
              <a:t> </a:t>
            </a:r>
            <a:r>
              <a:rPr sz="2000" dirty="0">
                <a:latin typeface="Times New Roman"/>
                <a:cs typeface="Times New Roman"/>
              </a:rPr>
              <a:t>resources,</a:t>
            </a:r>
            <a:r>
              <a:rPr sz="2000" spc="70" dirty="0">
                <a:latin typeface="Times New Roman"/>
                <a:cs typeface="Times New Roman"/>
              </a:rPr>
              <a:t> </a:t>
            </a:r>
            <a:r>
              <a:rPr sz="2000" dirty="0">
                <a:latin typeface="Times New Roman"/>
                <a:cs typeface="Times New Roman"/>
              </a:rPr>
              <a:t>and</a:t>
            </a:r>
            <a:r>
              <a:rPr sz="2000" spc="90" dirty="0">
                <a:latin typeface="Times New Roman"/>
                <a:cs typeface="Times New Roman"/>
              </a:rPr>
              <a:t> </a:t>
            </a:r>
            <a:r>
              <a:rPr sz="2000" dirty="0">
                <a:latin typeface="Times New Roman"/>
                <a:cs typeface="Times New Roman"/>
              </a:rPr>
              <a:t>balanced</a:t>
            </a:r>
            <a:r>
              <a:rPr sz="2000" spc="55" dirty="0">
                <a:latin typeface="Times New Roman"/>
                <a:cs typeface="Times New Roman"/>
              </a:rPr>
              <a:t> </a:t>
            </a:r>
            <a:r>
              <a:rPr sz="2000" spc="-10" dirty="0">
                <a:latin typeface="Times New Roman"/>
                <a:cs typeface="Times New Roman"/>
              </a:rPr>
              <a:t>economic development.</a:t>
            </a:r>
            <a:endParaRPr sz="2000" dirty="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651477"/>
            <a:ext cx="10689272" cy="717824"/>
          </a:xfrm>
          <a:prstGeom prst="rect">
            <a:avLst/>
          </a:prstGeom>
        </p:spPr>
        <p:txBody>
          <a:bodyPr vert="horz" wrap="square" lIns="0" tIns="223202" rIns="0" bIns="0" rtlCol="0">
            <a:spAutoFit/>
          </a:bodyPr>
          <a:lstStyle/>
          <a:p>
            <a:pPr marL="897890">
              <a:lnSpc>
                <a:spcPct val="100000"/>
              </a:lnSpc>
              <a:spcBef>
                <a:spcPts val="130"/>
              </a:spcBef>
            </a:pPr>
            <a:r>
              <a:rPr spc="-10" dirty="0">
                <a:solidFill>
                  <a:srgbClr val="FF0000"/>
                </a:solidFill>
              </a:rPr>
              <a:t>Conclusion:</a:t>
            </a:r>
          </a:p>
        </p:txBody>
      </p:sp>
      <p:sp>
        <p:nvSpPr>
          <p:cNvPr id="3" name="object 3"/>
          <p:cNvSpPr txBox="1">
            <a:spLocks noGrp="1"/>
          </p:cNvSpPr>
          <p:nvPr>
            <p:ph type="body" idx="1"/>
          </p:nvPr>
        </p:nvSpPr>
        <p:spPr>
          <a:xfrm>
            <a:off x="1143000" y="1905000"/>
            <a:ext cx="10180320" cy="3507499"/>
          </a:xfrm>
          <a:prstGeom prst="rect">
            <a:avLst/>
          </a:prstGeom>
        </p:spPr>
        <p:txBody>
          <a:bodyPr vert="horz" wrap="square" lIns="0" tIns="13335" rIns="0" bIns="0" rtlCol="0">
            <a:spAutoFit/>
          </a:bodyPr>
          <a:lstStyle/>
          <a:p>
            <a:pPr marL="12065" marR="5080" algn="just">
              <a:lnSpc>
                <a:spcPct val="150000"/>
              </a:lnSpc>
              <a:spcBef>
                <a:spcPts val="105"/>
              </a:spcBef>
              <a:tabLst>
                <a:tab pos="355600" algn="l"/>
              </a:tabLst>
            </a:pPr>
            <a:r>
              <a:rPr lang="en-US" sz="2200" i="1" dirty="0"/>
              <a:t>This project creates a comprehensive SQL database to study global patterns in emissions, energy production and use, GDP, and population. By organizing the data into structured tables and running analytical queries, it highlights insights such as which countries are the largest emitters, how energy consumption connects to economic growth, and how population levels influence environmental pressure. These insights transform raw data into practical evidence that can guide more sustainable planning and better-informed policy decisions.</a:t>
            </a:r>
            <a:endParaRPr sz="2200" i="1" spc="-1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16;p5">
            <a:extLst>
              <a:ext uri="{FF2B5EF4-FFF2-40B4-BE49-F238E27FC236}">
                <a16:creationId xmlns:a16="http://schemas.microsoft.com/office/drawing/2014/main" id="{20EAA7B4-E872-F06F-21DE-DB7041E28A24}"/>
              </a:ext>
            </a:extLst>
          </p:cNvPr>
          <p:cNvPicPr preferRelativeResize="0"/>
          <p:nvPr/>
        </p:nvPicPr>
        <p:blipFill rotWithShape="1">
          <a:blip r:embed="rId2">
            <a:alphaModFix/>
          </a:blip>
          <a:srcRect/>
          <a:stretch/>
        </p:blipFill>
        <p:spPr>
          <a:xfrm>
            <a:off x="6466516" y="1850749"/>
            <a:ext cx="4465643" cy="2834317"/>
          </a:xfrm>
          <a:prstGeom prst="rect">
            <a:avLst/>
          </a:prstGeom>
          <a:noFill/>
          <a:ln>
            <a:noFill/>
          </a:ln>
        </p:spPr>
      </p:pic>
      <p:sp>
        <p:nvSpPr>
          <p:cNvPr id="5" name="TextBox 4">
            <a:extLst>
              <a:ext uri="{FF2B5EF4-FFF2-40B4-BE49-F238E27FC236}">
                <a16:creationId xmlns:a16="http://schemas.microsoft.com/office/drawing/2014/main" id="{35D440D1-B215-6539-69BE-E345EB013457}"/>
              </a:ext>
            </a:extLst>
          </p:cNvPr>
          <p:cNvSpPr txBox="1"/>
          <p:nvPr/>
        </p:nvSpPr>
        <p:spPr>
          <a:xfrm>
            <a:off x="1752600" y="2971800"/>
            <a:ext cx="3200400" cy="584775"/>
          </a:xfrm>
          <a:prstGeom prst="rect">
            <a:avLst/>
          </a:prstGeom>
          <a:noFill/>
        </p:spPr>
        <p:txBody>
          <a:bodyPr wrap="square">
            <a:spAutoFit/>
          </a:bodyPr>
          <a:lstStyle/>
          <a:p>
            <a:pPr marL="0" marR="0" lvl="0" indent="0" algn="l" rtl="0">
              <a:lnSpc>
                <a:spcPct val="100000"/>
              </a:lnSpc>
              <a:spcBef>
                <a:spcPts val="0"/>
              </a:spcBef>
              <a:spcAft>
                <a:spcPts val="0"/>
              </a:spcAft>
              <a:buClr>
                <a:srgbClr val="C00000"/>
              </a:buClr>
              <a:buSzPts val="4400"/>
              <a:buFont typeface="Libre Baskerville"/>
              <a:buNone/>
            </a:pPr>
            <a:r>
              <a:rPr lang="en-IN" sz="3200" b="0" i="1" u="none" strike="noStrike" cap="none" dirty="0">
                <a:solidFill>
                  <a:srgbClr val="C00000"/>
                </a:solidFill>
                <a:latin typeface="High Tower Text" panose="02040502050506030303" pitchFamily="18" charset="0"/>
                <a:ea typeface="Libre Baskerville"/>
                <a:cs typeface="Libre Baskerville"/>
                <a:sym typeface="Libre Baskerville"/>
              </a:rPr>
              <a:t>THANK YOU</a:t>
            </a:r>
            <a:endParaRPr lang="en-IN" sz="3200" b="0" i="1" u="none" strike="noStrike" cap="none" dirty="0">
              <a:solidFill>
                <a:schemeClr val="dk1"/>
              </a:solidFill>
              <a:latin typeface="High Tower Text" panose="02040502050506030303" pitchFamily="18" charset="0"/>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TotalTime>
  <Words>607</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High Tower Text</vt:lpstr>
      <vt:lpstr>Libre Baskerville</vt:lpstr>
      <vt:lpstr>Times New Roman</vt:lpstr>
      <vt:lpstr>Wingdings</vt:lpstr>
      <vt:lpstr>Office Theme</vt:lpstr>
      <vt:lpstr>PowerPoint Presentation</vt:lpstr>
      <vt:lpstr>Objective of the Project:</vt:lpstr>
      <vt:lpstr>ER Diagram</vt:lpstr>
      <vt:lpstr>Schema Explanation</vt:lpstr>
      <vt:lpstr>Key analysis questions (use cases)</vt:lpstr>
      <vt:lpstr>Top 5 countries by GDP in the most recent year</vt:lpstr>
      <vt:lpstr>Change in global emissions over the years</vt:lpstr>
      <vt:lpstr>Change in total emissions in each country by population growth </vt:lpstr>
      <vt:lpstr>PowerPoint Presentation</vt:lpstr>
      <vt:lpstr>Top 10 countries by population and their respective emissions</vt:lpstr>
      <vt:lpstr>Global average GDP, Emission and Population by year</vt:lpstr>
      <vt:lpstr>Key Insights From the Energy &amp; Emissions SQL Analysis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HP</cp:lastModifiedBy>
  <cp:revision>6</cp:revision>
  <dcterms:created xsi:type="dcterms:W3CDTF">2025-12-05T16:44:36Z</dcterms:created>
  <dcterms:modified xsi:type="dcterms:W3CDTF">2025-12-06T04:46:38Z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2025-12-02T00:00:00Z</vt:filetime>
  </property>
  <property fmtid="{D5CDD505-2E9C-101B-9397-08002B2CF9AE}" pid="3" name="LastSaved">
    <vt:filetime>2025-12-05T00:00:00Z</vt:filetime>
  </property>
</Properties>
</file>